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A4F66"/>
                </a:solidFill>
                <a:latin typeface="Arial"/>
              </a:defRPr>
            </a:pPr>
            <a:r>
              <a:rPr sz="1200" b="0" i="0" u="none" strike="noStrike">
                <a:solidFill>
                  <a:srgbClr val="4A4F66"/>
                </a:solidFill>
                <a:latin typeface="Arial"/>
              </a:rPr>
              <a:t>Productivity gain claims vs. measured reality</a:t>
            </a:r>
          </a:p>
        </c:rich>
      </c:tx>
      <c:layout/>
      <c:overlay val="0"/>
    </c:title>
    <c:autoTitleDeleted val="0"/>
    <c:plotArea>
      <c:layout/>
      <c:barChart>
        <c:barDir val="col"/>
        <c:grouping val="clustered"/>
        <c:varyColors val="0"/>
        <c:ser>
          <c:idx val="0"/>
          <c:order val="0"/>
          <c:tx>
            <c:strRef>
              <c:f>Sheet1!$B$1</c:f>
              <c:strCache>
                <c:ptCount val="1"/>
                <c:pt idx="0">
                  <c:v>Productivity gain</c:v>
                </c:pt>
              </c:strCache>
            </c:strRef>
          </c:tx>
          <c:spPr>
            <a:solidFill>
              <a:srgbClr val="2BB897"/>
            </a:solidFill>
            <a:effectLst/>
          </c:spPr>
          <c:invertIfNegative val="0"/>
          <c:dLbls>
            <c:numFmt formatCode="0&quot;%&quot;" sourceLinked="0"/>
            <c:txPr>
              <a:bodyPr/>
              <a:lstStyle/>
              <a:p>
                <a:pPr>
                  <a:defRPr b="0" i="0" strike="noStrike" sz="1100" u="none">
                    <a:solidFill>
                      <a:srgbClr val="1A1D29"/>
                    </a:solidFill>
                    <a:latin typeface="Arial"/>
                  </a:defRPr>
                </a:pPr>
              </a:p>
            </c:txPr>
            <c:showLegendKey val="0"/>
            <c:showVal val="1"/>
            <c:showCatName val="0"/>
            <c:showSerName val="0"/>
            <c:showPercent val="0"/>
            <c:showBubbleSize val="0"/>
            <c:showLeaderLines val="0"/>
          </c:dLbls>
          <c:cat>
            <c:multiLvlStrRef>
              <c:f>Sheet1!$A$2:$A$5</c:f>
              <c:multiLvlStrCache>
                <c:ptCount val="4"/>
                <c:lvl>
                  <c:pt idx="0">
                    <c:v>2023 hype
(‘10x’ promise)</c:v>
                  </c:pt>
                  <c:pt idx="1">
                    <c:v>Microsoft /
Accenture study</c:v>
                  </c:pt>
                  <c:pt idx="2">
                    <c:v>Copilot
(typical tasks)</c:v>
                  </c:pt>
                  <c:pt idx="3">
                    <c:v>Cursor
(full feature use)</c:v>
                  </c:pt>
                </c:lvl>
              </c:multiLvlStrCache>
            </c:multiLvlStrRef>
          </c:cat>
          <c:val>
            <c:numRef>
              <c:f>Sheet1!$B$2:$B$5</c:f>
              <c:numCache>
                <c:formatCode>General</c:formatCode>
                <c:ptCount val="4"/>
                <c:pt idx="0">
                  <c:v>900</c:v>
                </c:pt>
                <c:pt idx="1">
                  <c:v>26</c:v>
                </c:pt>
                <c:pt idx="2">
                  <c:v>35</c:v>
                </c:pt>
                <c:pt idx="3">
                  <c:v>42</c:v>
                </c:pt>
              </c:numCache>
            </c:numRef>
          </c:val>
        </c:ser>
        <c:dLbls>
          <c:numFmt formatCode="0&quot;%&quot;" sourceLinked="0"/>
          <c:txPr>
            <a:bodyPr/>
            <a:lstStyle/>
            <a:p>
              <a:pPr>
                <a:defRPr b="0" i="0" strike="noStrike" sz="1100" u="none">
                  <a:solidFill>
                    <a:srgbClr val="1A1D29"/>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A4F66"/>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4F66"/>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A4F66"/>
                </a:solidFill>
                <a:latin typeface="Arial"/>
              </a:defRPr>
            </a:pPr>
            <a:r>
              <a:rPr sz="1200" b="0" i="0" u="none" strike="noStrike">
                <a:solidFill>
                  <a:srgbClr val="4A4F66"/>
                </a:solidFill>
                <a:latin typeface="Arial"/>
              </a:rPr>
              <a:t>Demand is shifting, not just disappearing</a:t>
            </a:r>
          </a:p>
        </c:rich>
      </c:tx>
      <c:layout/>
      <c:overlay val="0"/>
    </c:title>
    <c:autoTitleDeleted val="0"/>
    <c:plotArea>
      <c:layout/>
      <c:barChart>
        <c:barDir val="col"/>
        <c:grouping val="clustered"/>
        <c:varyColors val="0"/>
        <c:ser>
          <c:idx val="0"/>
          <c:order val="0"/>
          <c:tx>
            <c:strRef>
              <c:f>Sheet1!$B$1</c:f>
              <c:strCache>
                <c:ptCount val="1"/>
                <c:pt idx="0">
                  <c:v>Change since 2020</c:v>
                </c:pt>
              </c:strCache>
            </c:strRef>
          </c:tx>
          <c:spPr>
            <a:solidFill>
              <a:srgbClr val="2BB897"/>
            </a:solidFill>
            <a:effectLst/>
          </c:spPr>
          <c:invertIfNegative val="0"/>
          <c:dLbls>
            <c:numFmt formatCode="0&quot;%&quot;" sourceLinked="0"/>
            <c:txPr>
              <a:bodyPr/>
              <a:lstStyle/>
              <a:p>
                <a:pPr>
                  <a:defRPr b="0" i="0" strike="noStrike" sz="1200" u="none">
                    <a:solidFill>
                      <a:srgbClr val="1A1D29"/>
                    </a:solidFill>
                    <a:latin typeface="Arial"/>
                  </a:defRPr>
                </a:pPr>
              </a:p>
            </c:txPr>
            <c:showLegendKey val="0"/>
            <c:showVal val="1"/>
            <c:showCatName val="0"/>
            <c:showSerName val="0"/>
            <c:showPercent val="0"/>
            <c:showBubbleSize val="0"/>
            <c:showLeaderLines val="0"/>
          </c:dLbls>
          <c:dPt>
            <c:idx val="0"/>
            <c:invertIfNegative val="0"/>
            <c:bubble3D val="0"/>
            <c:spPr>
              <a:solidFill>
                <a:srgbClr val="E04F40"/>
              </a:solidFill>
              <a:effectLst/>
            </c:spPr>
          </c:dPt>
          <c:dPt>
            <c:idx val="1"/>
            <c:invertIfNegative val="0"/>
            <c:bubble3D val="0"/>
            <c:spPr>
              <a:solidFill>
                <a:srgbClr val="2BB897"/>
              </a:solidFill>
              <a:effectLst/>
            </c:spPr>
          </c:dPt>
          <c:cat>
            <c:multiLvlStrRef>
              <c:f>Sheet1!$A$2:$A$3</c:f>
              <c:multiLvlStrCache>
                <c:ptCount val="2"/>
                <c:lvl>
                  <c:pt idx="0">
                    <c:v>Some web / mobile
dev postings</c:v>
                  </c:pt>
                  <c:pt idx="1">
                    <c:v>Machine learning
engineer postings</c:v>
                  </c:pt>
                </c:lvl>
              </c:multiLvlStrCache>
            </c:multiLvlStrRef>
          </c:cat>
          <c:val>
            <c:numRef>
              <c:f>Sheet1!$B$2:$B$3</c:f>
              <c:numCache>
                <c:formatCode>General</c:formatCode>
                <c:ptCount val="2"/>
                <c:pt idx="0">
                  <c:v>-60</c:v>
                </c:pt>
                <c:pt idx="1">
                  <c:v>59</c:v>
                </c:pt>
              </c:numCache>
            </c:numRef>
          </c:val>
        </c:ser>
        <c:dLbls>
          <c:numFmt formatCode="0&quot;%&quot;" sourceLinked="0"/>
          <c:txPr>
            <a:bodyPr/>
            <a:lstStyle/>
            <a:p>
              <a:pPr>
                <a:defRPr b="0" i="0" strike="noStrike" sz="1200" u="none">
                  <a:solidFill>
                    <a:srgbClr val="1A1D29"/>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4F66"/>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4F66"/>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ARIF (0:00-0:15): Every one of us in this room has probably had an AI tool finish a line of code before we did. Today we're looking at GitHub Copilot, Cursor, and tools like them, and at a question the entire software industry is arguing about right now: are these tools making developers faster, or are they quietly closing the door on junior developers like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reinforcing the hook visually. Pause briefly here before handing off to Joshua for the adoption stats.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JOSHUA (0:15-0:45): AI coding assistants have gone from a novelty to the default. As of the latest Stack Overflow survey, 84 percent of developers now use or plan to use AI tools in their workflow. GitHub Copilot alone has around 20 million users, and it's deployed at 90 percent of Fortune 100 companies. And Cursor, a newer AI-first code editor, went from 100 million dollars to 2 billion dollars in annual revenue in about a year and a half. That's one of the fastest growth curves any software company has ever had.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ARIF (0:45-1:15): So how much faster does it actually make us? Back in 2023, the pitch was that AI would make developers ten times more productive. The real 2026 numbers are more modest, and more interesting. Microsoft and Accenture studies found about a 26 percent average productivity gain. Other independent reviews put GitHub Copilot around 30 to 40 percent faster on typical tasks. That's a real gain, just not the miracle that was promised. And there's a catch: research from DORA found that while AI makes individual developers feel faster, it can actually hurt team-wide delivery stability. Only 29 percent of developers actually trust AI output, even though almost everyone uses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transition slide. Brief pause to signal the tone shift into the contested part of the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JOSHUA (1:15-1:35, part 1): Here's where it gets serious for us specifically. A Stanford study found that employment for developers aged 22 to 25 has dropped almost 20 percent since AI tools took off. Entry-level software job postings are down by as much as 40 percent from their 2022 peak, and in the first two months of 2026 alone, new postings dropped another 15 percent. The reasoning companies give is simple: a small team of senior developers using Copilot or Cursor can now ship what used to take a much bigger team, including the juniors who used to handle the simpler, repetitive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JOSHUA (1:35-2:00, part 2): But that's not the whole story. AWS CEO Matt Garman called the idea of replacing junior developers with AI 'one of the dumbest things' he's ever heard. His point: junior developers are the cheapest people on the team, they're the most comfortable with AI tools, and without them, companies eventually run out of senior engineers to promote. And it's not just talk: IBM just announced it's tripling entry-level hiring in the US for 2026, betting that juniors who work alongside AI are actually more valuable, not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bridge slide / can be covered briefly or skipped in the tight cut if running over time. Reinforces that this is a reallocation of demand, not a simple shrinkage -- sets up the 'what it means for us'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ARIF (2:00-2:30): So this isn't settled. The industry is genuinely split between companies shrinking their junior pipeline and companies investing in it. What is clear is what's being asked of entry-level developers is changing. AI skills now show up in 42 percent of software job postings, up from just 8 percent in 2022. The students who land these roles aren't necessarily the fastest typists, they're the ones who can direct an AI tool, catch its mistakes, and explain why the code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JOSHUA (2:30-2:50): AI coding assistants are not a side trend, they're already standard practice in the industry we're about to enter. The debate over junior jobs is real, and it's still playing out. But the lesson for us is the same either way: learning to work with these tools, not just around them, is quickly becoming a core part of the job description itself.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for grading / credibility -- not narrated in the timed video, can be left up briefly at the very end or included only in the GitHub slide file, not the spoken video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41C"/>
        </a:solidFill>
      </p:bgPr>
    </p:bg>
    <p:spTree>
      <p:nvGrpSpPr>
        <p:cNvPr id="1" name=""/>
        <p:cNvGrpSpPr/>
        <p:nvPr/>
      </p:nvGrpSpPr>
      <p:grpSpPr>
        <a:xfrm>
          <a:off x="0" y="0"/>
          <a:ext cx="0" cy="0"/>
          <a:chOff x="0" y="0"/>
          <a:chExt cx="0" cy="0"/>
        </a:xfrm>
      </p:grpSpPr>
      <p:sp>
        <p:nvSpPr>
          <p:cNvPr id="2" name="Shape 0"/>
          <p:cNvSpPr/>
          <p:nvPr/>
        </p:nvSpPr>
        <p:spPr>
          <a:xfrm>
            <a:off x="8778240" y="502920"/>
            <a:ext cx="41148" cy="41148"/>
          </a:xfrm>
          <a:prstGeom prst="ellipse">
            <a:avLst/>
          </a:prstGeom>
          <a:solidFill>
            <a:srgbClr val="323851"/>
          </a:solidFill>
          <a:ln/>
        </p:spPr>
      </p:sp>
      <p:sp>
        <p:nvSpPr>
          <p:cNvPr id="3" name="Shape 1"/>
          <p:cNvSpPr/>
          <p:nvPr/>
        </p:nvSpPr>
        <p:spPr>
          <a:xfrm>
            <a:off x="8778240" y="886968"/>
            <a:ext cx="41148" cy="41148"/>
          </a:xfrm>
          <a:prstGeom prst="ellipse">
            <a:avLst/>
          </a:prstGeom>
          <a:solidFill>
            <a:srgbClr val="323851"/>
          </a:solidFill>
          <a:ln/>
        </p:spPr>
      </p:sp>
      <p:sp>
        <p:nvSpPr>
          <p:cNvPr id="4" name="Shape 2"/>
          <p:cNvSpPr/>
          <p:nvPr/>
        </p:nvSpPr>
        <p:spPr>
          <a:xfrm>
            <a:off x="8778240" y="1271016"/>
            <a:ext cx="41148" cy="41148"/>
          </a:xfrm>
          <a:prstGeom prst="ellipse">
            <a:avLst/>
          </a:prstGeom>
          <a:solidFill>
            <a:srgbClr val="323851"/>
          </a:solidFill>
          <a:ln/>
        </p:spPr>
      </p:sp>
      <p:sp>
        <p:nvSpPr>
          <p:cNvPr id="5" name="Shape 3"/>
          <p:cNvSpPr/>
          <p:nvPr/>
        </p:nvSpPr>
        <p:spPr>
          <a:xfrm>
            <a:off x="8778240" y="1655064"/>
            <a:ext cx="41148" cy="41148"/>
          </a:xfrm>
          <a:prstGeom prst="ellipse">
            <a:avLst/>
          </a:prstGeom>
          <a:solidFill>
            <a:srgbClr val="323851"/>
          </a:solidFill>
          <a:ln/>
        </p:spPr>
      </p:sp>
      <p:sp>
        <p:nvSpPr>
          <p:cNvPr id="6" name="Shape 4"/>
          <p:cNvSpPr/>
          <p:nvPr/>
        </p:nvSpPr>
        <p:spPr>
          <a:xfrm>
            <a:off x="8778240" y="2039112"/>
            <a:ext cx="41148" cy="41148"/>
          </a:xfrm>
          <a:prstGeom prst="ellipse">
            <a:avLst/>
          </a:prstGeom>
          <a:solidFill>
            <a:srgbClr val="323851"/>
          </a:solidFill>
          <a:ln/>
        </p:spPr>
      </p:sp>
      <p:sp>
        <p:nvSpPr>
          <p:cNvPr id="7" name="Shape 5"/>
          <p:cNvSpPr/>
          <p:nvPr/>
        </p:nvSpPr>
        <p:spPr>
          <a:xfrm>
            <a:off x="9162288" y="502920"/>
            <a:ext cx="41148" cy="41148"/>
          </a:xfrm>
          <a:prstGeom prst="ellipse">
            <a:avLst/>
          </a:prstGeom>
          <a:solidFill>
            <a:srgbClr val="323851"/>
          </a:solidFill>
          <a:ln/>
        </p:spPr>
      </p:sp>
      <p:sp>
        <p:nvSpPr>
          <p:cNvPr id="8" name="Shape 6"/>
          <p:cNvSpPr/>
          <p:nvPr/>
        </p:nvSpPr>
        <p:spPr>
          <a:xfrm>
            <a:off x="9162288" y="886968"/>
            <a:ext cx="41148" cy="41148"/>
          </a:xfrm>
          <a:prstGeom prst="ellipse">
            <a:avLst/>
          </a:prstGeom>
          <a:solidFill>
            <a:srgbClr val="323851"/>
          </a:solidFill>
          <a:ln/>
        </p:spPr>
      </p:sp>
      <p:sp>
        <p:nvSpPr>
          <p:cNvPr id="9" name="Shape 7"/>
          <p:cNvSpPr/>
          <p:nvPr/>
        </p:nvSpPr>
        <p:spPr>
          <a:xfrm>
            <a:off x="9162288" y="1271016"/>
            <a:ext cx="41148" cy="41148"/>
          </a:xfrm>
          <a:prstGeom prst="ellipse">
            <a:avLst/>
          </a:prstGeom>
          <a:solidFill>
            <a:srgbClr val="323851"/>
          </a:solidFill>
          <a:ln/>
        </p:spPr>
      </p:sp>
      <p:sp>
        <p:nvSpPr>
          <p:cNvPr id="10" name="Shape 8"/>
          <p:cNvSpPr/>
          <p:nvPr/>
        </p:nvSpPr>
        <p:spPr>
          <a:xfrm>
            <a:off x="9162288" y="1655064"/>
            <a:ext cx="41148" cy="41148"/>
          </a:xfrm>
          <a:prstGeom prst="ellipse">
            <a:avLst/>
          </a:prstGeom>
          <a:solidFill>
            <a:srgbClr val="323851"/>
          </a:solidFill>
          <a:ln/>
        </p:spPr>
      </p:sp>
      <p:sp>
        <p:nvSpPr>
          <p:cNvPr id="11" name="Shape 9"/>
          <p:cNvSpPr/>
          <p:nvPr/>
        </p:nvSpPr>
        <p:spPr>
          <a:xfrm>
            <a:off x="9162288" y="2039112"/>
            <a:ext cx="41148" cy="41148"/>
          </a:xfrm>
          <a:prstGeom prst="ellipse">
            <a:avLst/>
          </a:prstGeom>
          <a:solidFill>
            <a:srgbClr val="323851"/>
          </a:solidFill>
          <a:ln/>
        </p:spPr>
      </p:sp>
      <p:sp>
        <p:nvSpPr>
          <p:cNvPr id="12" name="Shape 10"/>
          <p:cNvSpPr/>
          <p:nvPr/>
        </p:nvSpPr>
        <p:spPr>
          <a:xfrm>
            <a:off x="9546336" y="502920"/>
            <a:ext cx="41148" cy="41148"/>
          </a:xfrm>
          <a:prstGeom prst="ellipse">
            <a:avLst/>
          </a:prstGeom>
          <a:solidFill>
            <a:srgbClr val="323851"/>
          </a:solidFill>
          <a:ln/>
        </p:spPr>
      </p:sp>
      <p:sp>
        <p:nvSpPr>
          <p:cNvPr id="13" name="Shape 11"/>
          <p:cNvSpPr/>
          <p:nvPr/>
        </p:nvSpPr>
        <p:spPr>
          <a:xfrm>
            <a:off x="9546336" y="886968"/>
            <a:ext cx="41148" cy="41148"/>
          </a:xfrm>
          <a:prstGeom prst="ellipse">
            <a:avLst/>
          </a:prstGeom>
          <a:solidFill>
            <a:srgbClr val="323851"/>
          </a:solidFill>
          <a:ln/>
        </p:spPr>
      </p:sp>
      <p:sp>
        <p:nvSpPr>
          <p:cNvPr id="14" name="Shape 12"/>
          <p:cNvSpPr/>
          <p:nvPr/>
        </p:nvSpPr>
        <p:spPr>
          <a:xfrm>
            <a:off x="9546336" y="1271016"/>
            <a:ext cx="41148" cy="41148"/>
          </a:xfrm>
          <a:prstGeom prst="ellipse">
            <a:avLst/>
          </a:prstGeom>
          <a:solidFill>
            <a:srgbClr val="323851"/>
          </a:solidFill>
          <a:ln/>
        </p:spPr>
      </p:sp>
      <p:sp>
        <p:nvSpPr>
          <p:cNvPr id="15" name="Shape 13"/>
          <p:cNvSpPr/>
          <p:nvPr/>
        </p:nvSpPr>
        <p:spPr>
          <a:xfrm>
            <a:off x="9546336" y="1655064"/>
            <a:ext cx="41148" cy="41148"/>
          </a:xfrm>
          <a:prstGeom prst="ellipse">
            <a:avLst/>
          </a:prstGeom>
          <a:solidFill>
            <a:srgbClr val="323851"/>
          </a:solidFill>
          <a:ln/>
        </p:spPr>
      </p:sp>
      <p:sp>
        <p:nvSpPr>
          <p:cNvPr id="16" name="Shape 14"/>
          <p:cNvSpPr/>
          <p:nvPr/>
        </p:nvSpPr>
        <p:spPr>
          <a:xfrm>
            <a:off x="9546336" y="2039112"/>
            <a:ext cx="41148" cy="41148"/>
          </a:xfrm>
          <a:prstGeom prst="ellipse">
            <a:avLst/>
          </a:prstGeom>
          <a:solidFill>
            <a:srgbClr val="323851"/>
          </a:solidFill>
          <a:ln/>
        </p:spPr>
      </p:sp>
      <p:sp>
        <p:nvSpPr>
          <p:cNvPr id="17" name="Shape 15"/>
          <p:cNvSpPr/>
          <p:nvPr/>
        </p:nvSpPr>
        <p:spPr>
          <a:xfrm>
            <a:off x="9930384" y="502920"/>
            <a:ext cx="41148" cy="41148"/>
          </a:xfrm>
          <a:prstGeom prst="ellipse">
            <a:avLst/>
          </a:prstGeom>
          <a:solidFill>
            <a:srgbClr val="323851"/>
          </a:solidFill>
          <a:ln/>
        </p:spPr>
      </p:sp>
      <p:sp>
        <p:nvSpPr>
          <p:cNvPr id="18" name="Shape 16"/>
          <p:cNvSpPr/>
          <p:nvPr/>
        </p:nvSpPr>
        <p:spPr>
          <a:xfrm>
            <a:off x="9930384" y="886968"/>
            <a:ext cx="41148" cy="41148"/>
          </a:xfrm>
          <a:prstGeom prst="ellipse">
            <a:avLst/>
          </a:prstGeom>
          <a:solidFill>
            <a:srgbClr val="323851"/>
          </a:solidFill>
          <a:ln/>
        </p:spPr>
      </p:sp>
      <p:sp>
        <p:nvSpPr>
          <p:cNvPr id="19" name="Shape 17"/>
          <p:cNvSpPr/>
          <p:nvPr/>
        </p:nvSpPr>
        <p:spPr>
          <a:xfrm>
            <a:off x="9930384" y="1271016"/>
            <a:ext cx="41148" cy="41148"/>
          </a:xfrm>
          <a:prstGeom prst="ellipse">
            <a:avLst/>
          </a:prstGeom>
          <a:solidFill>
            <a:srgbClr val="323851"/>
          </a:solidFill>
          <a:ln/>
        </p:spPr>
      </p:sp>
      <p:sp>
        <p:nvSpPr>
          <p:cNvPr id="20" name="Shape 18"/>
          <p:cNvSpPr/>
          <p:nvPr/>
        </p:nvSpPr>
        <p:spPr>
          <a:xfrm>
            <a:off x="9930384" y="1655064"/>
            <a:ext cx="41148" cy="41148"/>
          </a:xfrm>
          <a:prstGeom prst="ellipse">
            <a:avLst/>
          </a:prstGeom>
          <a:solidFill>
            <a:srgbClr val="323851"/>
          </a:solidFill>
          <a:ln/>
        </p:spPr>
      </p:sp>
      <p:sp>
        <p:nvSpPr>
          <p:cNvPr id="21" name="Shape 19"/>
          <p:cNvSpPr/>
          <p:nvPr/>
        </p:nvSpPr>
        <p:spPr>
          <a:xfrm>
            <a:off x="9930384" y="2039112"/>
            <a:ext cx="41148" cy="41148"/>
          </a:xfrm>
          <a:prstGeom prst="ellipse">
            <a:avLst/>
          </a:prstGeom>
          <a:solidFill>
            <a:srgbClr val="323851"/>
          </a:solidFill>
          <a:ln/>
        </p:spPr>
      </p:sp>
      <p:sp>
        <p:nvSpPr>
          <p:cNvPr id="22" name="Shape 20"/>
          <p:cNvSpPr/>
          <p:nvPr/>
        </p:nvSpPr>
        <p:spPr>
          <a:xfrm>
            <a:off x="10314432" y="502920"/>
            <a:ext cx="41148" cy="41148"/>
          </a:xfrm>
          <a:prstGeom prst="ellipse">
            <a:avLst/>
          </a:prstGeom>
          <a:solidFill>
            <a:srgbClr val="323851"/>
          </a:solidFill>
          <a:ln/>
        </p:spPr>
      </p:sp>
      <p:sp>
        <p:nvSpPr>
          <p:cNvPr id="23" name="Shape 21"/>
          <p:cNvSpPr/>
          <p:nvPr/>
        </p:nvSpPr>
        <p:spPr>
          <a:xfrm>
            <a:off x="10314432" y="886968"/>
            <a:ext cx="41148" cy="41148"/>
          </a:xfrm>
          <a:prstGeom prst="ellipse">
            <a:avLst/>
          </a:prstGeom>
          <a:solidFill>
            <a:srgbClr val="323851"/>
          </a:solidFill>
          <a:ln/>
        </p:spPr>
      </p:sp>
      <p:sp>
        <p:nvSpPr>
          <p:cNvPr id="24" name="Shape 22"/>
          <p:cNvSpPr/>
          <p:nvPr/>
        </p:nvSpPr>
        <p:spPr>
          <a:xfrm>
            <a:off x="10314432" y="1271016"/>
            <a:ext cx="41148" cy="41148"/>
          </a:xfrm>
          <a:prstGeom prst="ellipse">
            <a:avLst/>
          </a:prstGeom>
          <a:solidFill>
            <a:srgbClr val="323851"/>
          </a:solidFill>
          <a:ln/>
        </p:spPr>
      </p:sp>
      <p:sp>
        <p:nvSpPr>
          <p:cNvPr id="25" name="Shape 23"/>
          <p:cNvSpPr/>
          <p:nvPr/>
        </p:nvSpPr>
        <p:spPr>
          <a:xfrm>
            <a:off x="10314432" y="1655064"/>
            <a:ext cx="41148" cy="41148"/>
          </a:xfrm>
          <a:prstGeom prst="ellipse">
            <a:avLst/>
          </a:prstGeom>
          <a:solidFill>
            <a:srgbClr val="323851"/>
          </a:solidFill>
          <a:ln/>
        </p:spPr>
      </p:sp>
      <p:sp>
        <p:nvSpPr>
          <p:cNvPr id="26" name="Shape 24"/>
          <p:cNvSpPr/>
          <p:nvPr/>
        </p:nvSpPr>
        <p:spPr>
          <a:xfrm>
            <a:off x="10314432" y="2039112"/>
            <a:ext cx="41148" cy="41148"/>
          </a:xfrm>
          <a:prstGeom prst="ellipse">
            <a:avLst/>
          </a:prstGeom>
          <a:solidFill>
            <a:srgbClr val="323851"/>
          </a:solidFill>
          <a:ln/>
        </p:spPr>
      </p:sp>
      <p:sp>
        <p:nvSpPr>
          <p:cNvPr id="27" name="Shape 25"/>
          <p:cNvSpPr/>
          <p:nvPr/>
        </p:nvSpPr>
        <p:spPr>
          <a:xfrm>
            <a:off x="10698480" y="502920"/>
            <a:ext cx="41148" cy="41148"/>
          </a:xfrm>
          <a:prstGeom prst="ellipse">
            <a:avLst/>
          </a:prstGeom>
          <a:solidFill>
            <a:srgbClr val="323851"/>
          </a:solidFill>
          <a:ln/>
        </p:spPr>
      </p:sp>
      <p:sp>
        <p:nvSpPr>
          <p:cNvPr id="28" name="Shape 26"/>
          <p:cNvSpPr/>
          <p:nvPr/>
        </p:nvSpPr>
        <p:spPr>
          <a:xfrm>
            <a:off x="10698480" y="886968"/>
            <a:ext cx="41148" cy="41148"/>
          </a:xfrm>
          <a:prstGeom prst="ellipse">
            <a:avLst/>
          </a:prstGeom>
          <a:solidFill>
            <a:srgbClr val="323851"/>
          </a:solidFill>
          <a:ln/>
        </p:spPr>
      </p:sp>
      <p:sp>
        <p:nvSpPr>
          <p:cNvPr id="29" name="Shape 27"/>
          <p:cNvSpPr/>
          <p:nvPr/>
        </p:nvSpPr>
        <p:spPr>
          <a:xfrm>
            <a:off x="10698480" y="1271016"/>
            <a:ext cx="41148" cy="41148"/>
          </a:xfrm>
          <a:prstGeom prst="ellipse">
            <a:avLst/>
          </a:prstGeom>
          <a:solidFill>
            <a:srgbClr val="323851"/>
          </a:solidFill>
          <a:ln/>
        </p:spPr>
      </p:sp>
      <p:sp>
        <p:nvSpPr>
          <p:cNvPr id="30" name="Shape 28"/>
          <p:cNvSpPr/>
          <p:nvPr/>
        </p:nvSpPr>
        <p:spPr>
          <a:xfrm>
            <a:off x="10698480" y="1655064"/>
            <a:ext cx="41148" cy="41148"/>
          </a:xfrm>
          <a:prstGeom prst="ellipse">
            <a:avLst/>
          </a:prstGeom>
          <a:solidFill>
            <a:srgbClr val="323851"/>
          </a:solidFill>
          <a:ln/>
        </p:spPr>
      </p:sp>
      <p:sp>
        <p:nvSpPr>
          <p:cNvPr id="31" name="Shape 29"/>
          <p:cNvSpPr/>
          <p:nvPr/>
        </p:nvSpPr>
        <p:spPr>
          <a:xfrm>
            <a:off x="10698480" y="2039112"/>
            <a:ext cx="41148" cy="41148"/>
          </a:xfrm>
          <a:prstGeom prst="ellipse">
            <a:avLst/>
          </a:prstGeom>
          <a:solidFill>
            <a:srgbClr val="323851"/>
          </a:solidFill>
          <a:ln/>
        </p:spPr>
      </p:sp>
      <p:sp>
        <p:nvSpPr>
          <p:cNvPr id="32" name="Shape 30"/>
          <p:cNvSpPr/>
          <p:nvPr/>
        </p:nvSpPr>
        <p:spPr>
          <a:xfrm>
            <a:off x="11082528" y="502920"/>
            <a:ext cx="41148" cy="41148"/>
          </a:xfrm>
          <a:prstGeom prst="ellipse">
            <a:avLst/>
          </a:prstGeom>
          <a:solidFill>
            <a:srgbClr val="323851"/>
          </a:solidFill>
          <a:ln/>
        </p:spPr>
      </p:sp>
      <p:sp>
        <p:nvSpPr>
          <p:cNvPr id="33" name="Shape 31"/>
          <p:cNvSpPr/>
          <p:nvPr/>
        </p:nvSpPr>
        <p:spPr>
          <a:xfrm>
            <a:off x="11082528" y="886968"/>
            <a:ext cx="41148" cy="41148"/>
          </a:xfrm>
          <a:prstGeom prst="ellipse">
            <a:avLst/>
          </a:prstGeom>
          <a:solidFill>
            <a:srgbClr val="323851"/>
          </a:solidFill>
          <a:ln/>
        </p:spPr>
      </p:sp>
      <p:sp>
        <p:nvSpPr>
          <p:cNvPr id="34" name="Shape 32"/>
          <p:cNvSpPr/>
          <p:nvPr/>
        </p:nvSpPr>
        <p:spPr>
          <a:xfrm>
            <a:off x="11082528" y="1271016"/>
            <a:ext cx="41148" cy="41148"/>
          </a:xfrm>
          <a:prstGeom prst="ellipse">
            <a:avLst/>
          </a:prstGeom>
          <a:solidFill>
            <a:srgbClr val="323851"/>
          </a:solidFill>
          <a:ln/>
        </p:spPr>
      </p:sp>
      <p:sp>
        <p:nvSpPr>
          <p:cNvPr id="35" name="Shape 33"/>
          <p:cNvSpPr/>
          <p:nvPr/>
        </p:nvSpPr>
        <p:spPr>
          <a:xfrm>
            <a:off x="11082528" y="1655064"/>
            <a:ext cx="41148" cy="41148"/>
          </a:xfrm>
          <a:prstGeom prst="ellipse">
            <a:avLst/>
          </a:prstGeom>
          <a:solidFill>
            <a:srgbClr val="323851"/>
          </a:solidFill>
          <a:ln/>
        </p:spPr>
      </p:sp>
      <p:sp>
        <p:nvSpPr>
          <p:cNvPr id="36" name="Shape 34"/>
          <p:cNvSpPr/>
          <p:nvPr/>
        </p:nvSpPr>
        <p:spPr>
          <a:xfrm>
            <a:off x="11082528" y="2039112"/>
            <a:ext cx="41148" cy="41148"/>
          </a:xfrm>
          <a:prstGeom prst="ellipse">
            <a:avLst/>
          </a:prstGeom>
          <a:solidFill>
            <a:srgbClr val="323851"/>
          </a:solidFill>
          <a:ln/>
        </p:spPr>
      </p:sp>
      <p:sp>
        <p:nvSpPr>
          <p:cNvPr id="37" name="Shape 35"/>
          <p:cNvSpPr/>
          <p:nvPr/>
        </p:nvSpPr>
        <p:spPr>
          <a:xfrm>
            <a:off x="11466576" y="502920"/>
            <a:ext cx="41148" cy="41148"/>
          </a:xfrm>
          <a:prstGeom prst="ellipse">
            <a:avLst/>
          </a:prstGeom>
          <a:solidFill>
            <a:srgbClr val="323851"/>
          </a:solidFill>
          <a:ln/>
        </p:spPr>
      </p:sp>
      <p:sp>
        <p:nvSpPr>
          <p:cNvPr id="38" name="Shape 36"/>
          <p:cNvSpPr/>
          <p:nvPr/>
        </p:nvSpPr>
        <p:spPr>
          <a:xfrm>
            <a:off x="11466576" y="886968"/>
            <a:ext cx="41148" cy="41148"/>
          </a:xfrm>
          <a:prstGeom prst="ellipse">
            <a:avLst/>
          </a:prstGeom>
          <a:solidFill>
            <a:srgbClr val="323851"/>
          </a:solidFill>
          <a:ln/>
        </p:spPr>
      </p:sp>
      <p:sp>
        <p:nvSpPr>
          <p:cNvPr id="39" name="Shape 37"/>
          <p:cNvSpPr/>
          <p:nvPr/>
        </p:nvSpPr>
        <p:spPr>
          <a:xfrm>
            <a:off x="11466576" y="1271016"/>
            <a:ext cx="41148" cy="41148"/>
          </a:xfrm>
          <a:prstGeom prst="ellipse">
            <a:avLst/>
          </a:prstGeom>
          <a:solidFill>
            <a:srgbClr val="323851"/>
          </a:solidFill>
          <a:ln/>
        </p:spPr>
      </p:sp>
      <p:sp>
        <p:nvSpPr>
          <p:cNvPr id="40" name="Shape 38"/>
          <p:cNvSpPr/>
          <p:nvPr/>
        </p:nvSpPr>
        <p:spPr>
          <a:xfrm>
            <a:off x="11466576" y="1655064"/>
            <a:ext cx="41148" cy="41148"/>
          </a:xfrm>
          <a:prstGeom prst="ellipse">
            <a:avLst/>
          </a:prstGeom>
          <a:solidFill>
            <a:srgbClr val="323851"/>
          </a:solidFill>
          <a:ln/>
        </p:spPr>
      </p:sp>
      <p:sp>
        <p:nvSpPr>
          <p:cNvPr id="41" name="Shape 39"/>
          <p:cNvSpPr/>
          <p:nvPr/>
        </p:nvSpPr>
        <p:spPr>
          <a:xfrm>
            <a:off x="11466576" y="2039112"/>
            <a:ext cx="41148" cy="41148"/>
          </a:xfrm>
          <a:prstGeom prst="ellipse">
            <a:avLst/>
          </a:prstGeom>
          <a:solidFill>
            <a:srgbClr val="323851"/>
          </a:solidFill>
          <a:ln/>
        </p:spPr>
      </p:sp>
      <p:sp>
        <p:nvSpPr>
          <p:cNvPr id="42" name="Text 40"/>
          <p:cNvSpPr/>
          <p:nvPr/>
        </p:nvSpPr>
        <p:spPr>
          <a:xfrm>
            <a:off x="822960" y="1417320"/>
            <a:ext cx="8229600" cy="365760"/>
          </a:xfrm>
          <a:prstGeom prst="rect">
            <a:avLst/>
          </a:prstGeom>
          <a:noFill/>
          <a:ln/>
        </p:spPr>
        <p:txBody>
          <a:bodyPr wrap="square" lIns="0" tIns="0" rIns="0" bIns="0" rtlCol="0" anchor="ctr"/>
          <a:lstStyle/>
          <a:p>
            <a:pPr indent="0" marL="0">
              <a:buNone/>
            </a:pPr>
            <a:r>
              <a:rPr lang="en-US" sz="1400" dirty="0">
                <a:solidFill>
                  <a:srgbClr val="7DF9C1"/>
                </a:solidFill>
                <a:latin typeface="Courier New" pitchFamily="34" charset="0"/>
                <a:ea typeface="Courier New" pitchFamily="34" charset="-122"/>
                <a:cs typeface="Courier New" pitchFamily="34" charset="-120"/>
              </a:rPr>
              <a:t>$ </a:t>
            </a:r>
            <a:pPr indent="0" marL="0">
              <a:buNone/>
            </a:pPr>
            <a:r>
              <a:rPr lang="en-US" sz="1400" dirty="0">
                <a:solidFill>
                  <a:srgbClr val="9298AC"/>
                </a:solidFill>
                <a:latin typeface="Courier New" pitchFamily="34" charset="0"/>
                <a:ea typeface="Courier New" pitchFamily="34" charset="-122"/>
                <a:cs typeface="Courier New" pitchFamily="34" charset="-120"/>
              </a:rPr>
              <a:t>whoami --topic=software-dev-2026</a:t>
            </a:r>
            <a:endParaRPr lang="en-US" sz="1400" dirty="0"/>
          </a:p>
        </p:txBody>
      </p:sp>
      <p:sp>
        <p:nvSpPr>
          <p:cNvPr id="43" name="Text 41"/>
          <p:cNvSpPr/>
          <p:nvPr/>
        </p:nvSpPr>
        <p:spPr>
          <a:xfrm>
            <a:off x="777240" y="1965960"/>
            <a:ext cx="10058400" cy="100584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AI Coding Assistants</a:t>
            </a:r>
            <a:endParaRPr lang="en-US" sz="5000" dirty="0"/>
          </a:p>
        </p:txBody>
      </p:sp>
      <p:sp>
        <p:nvSpPr>
          <p:cNvPr id="44" name="Text 42"/>
          <p:cNvSpPr/>
          <p:nvPr/>
        </p:nvSpPr>
        <p:spPr>
          <a:xfrm>
            <a:off x="777240" y="2788920"/>
            <a:ext cx="10332720" cy="914400"/>
          </a:xfrm>
          <a:prstGeom prst="rect">
            <a:avLst/>
          </a:prstGeom>
          <a:noFill/>
          <a:ln/>
        </p:spPr>
        <p:txBody>
          <a:bodyPr wrap="square" lIns="0" tIns="0" rIns="0" bIns="0" rtlCol="0" anchor="ctr"/>
          <a:lstStyle/>
          <a:p>
            <a:pPr indent="0" marL="0">
              <a:buNone/>
            </a:pPr>
            <a:r>
              <a:rPr lang="en-US" sz="3800" b="1" dirty="0">
                <a:solidFill>
                  <a:srgbClr val="EDEFF7"/>
                </a:solidFill>
                <a:latin typeface="Cambria" pitchFamily="34" charset="0"/>
                <a:ea typeface="Cambria" pitchFamily="34" charset="-122"/>
                <a:cs typeface="Cambria" pitchFamily="34" charset="-120"/>
              </a:rPr>
              <a:t>and the </a:t>
            </a:r>
            <a:pPr indent="0" marL="0">
              <a:buNone/>
            </a:pPr>
            <a:r>
              <a:rPr lang="en-US" sz="3800" b="1" dirty="0">
                <a:solidFill>
                  <a:srgbClr val="7DF9C1"/>
                </a:solidFill>
                <a:latin typeface="Cambria" pitchFamily="34" charset="0"/>
                <a:ea typeface="Cambria" pitchFamily="34" charset="-122"/>
                <a:cs typeface="Cambria" pitchFamily="34" charset="-120"/>
              </a:rPr>
              <a:t>Junior Developer</a:t>
            </a:r>
            <a:pPr indent="0" marL="0">
              <a:buNone/>
            </a:pPr>
            <a:r>
              <a:rPr lang="en-US" sz="3800" b="1" dirty="0">
                <a:solidFill>
                  <a:srgbClr val="EDEFF7"/>
                </a:solidFill>
                <a:latin typeface="Cambria" pitchFamily="34" charset="0"/>
                <a:ea typeface="Cambria" pitchFamily="34" charset="-122"/>
                <a:cs typeface="Cambria" pitchFamily="34" charset="-120"/>
              </a:rPr>
              <a:t> Question</a:t>
            </a:r>
            <a:endParaRPr lang="en-US" sz="3800" dirty="0"/>
          </a:p>
        </p:txBody>
      </p:sp>
      <p:sp>
        <p:nvSpPr>
          <p:cNvPr id="45" name="Text 43"/>
          <p:cNvSpPr/>
          <p:nvPr/>
        </p:nvSpPr>
        <p:spPr>
          <a:xfrm>
            <a:off x="822960" y="3703320"/>
            <a:ext cx="7863840" cy="640080"/>
          </a:xfrm>
          <a:prstGeom prst="rect">
            <a:avLst/>
          </a:prstGeom>
          <a:noFill/>
          <a:ln/>
        </p:spPr>
        <p:txBody>
          <a:bodyPr wrap="square" lIns="0" tIns="0" rIns="0" bIns="0" rtlCol="0" anchor="ctr"/>
          <a:lstStyle/>
          <a:p>
            <a:pPr indent="0" marL="0">
              <a:buNone/>
            </a:pPr>
            <a:r>
              <a:rPr lang="en-US" sz="1500" i="1" dirty="0">
                <a:solidFill>
                  <a:srgbClr val="9298AC"/>
                </a:solidFill>
                <a:latin typeface="Calibri" pitchFamily="34" charset="0"/>
                <a:ea typeface="Calibri" pitchFamily="34" charset="-122"/>
                <a:cs typeface="Calibri" pitchFamily="34" charset="-120"/>
              </a:rPr>
              <a:t>A current-events look at productivity gains, contested hiring data, and what it means for the next generation of developers.</a:t>
            </a:r>
            <a:endParaRPr lang="en-US" sz="1500" dirty="0"/>
          </a:p>
        </p:txBody>
      </p:sp>
      <p:sp>
        <p:nvSpPr>
          <p:cNvPr id="46" name="Shape 44"/>
          <p:cNvSpPr/>
          <p:nvPr/>
        </p:nvSpPr>
        <p:spPr>
          <a:xfrm>
            <a:off x="822960" y="4617720"/>
            <a:ext cx="82296" cy="82296"/>
          </a:xfrm>
          <a:prstGeom prst="ellipse">
            <a:avLst/>
          </a:prstGeom>
          <a:solidFill>
            <a:srgbClr val="7DF9C1"/>
          </a:solidFill>
          <a:ln/>
        </p:spPr>
      </p:sp>
      <p:sp>
        <p:nvSpPr>
          <p:cNvPr id="47" name="Shape 45"/>
          <p:cNvSpPr/>
          <p:nvPr/>
        </p:nvSpPr>
        <p:spPr>
          <a:xfrm>
            <a:off x="987552" y="4617720"/>
            <a:ext cx="82296" cy="82296"/>
          </a:xfrm>
          <a:prstGeom prst="ellipse">
            <a:avLst/>
          </a:prstGeom>
          <a:solidFill>
            <a:srgbClr val="8B7CF6"/>
          </a:solidFill>
          <a:ln/>
        </p:spPr>
      </p:sp>
      <p:sp>
        <p:nvSpPr>
          <p:cNvPr id="48" name="Shape 46"/>
          <p:cNvSpPr/>
          <p:nvPr/>
        </p:nvSpPr>
        <p:spPr>
          <a:xfrm>
            <a:off x="1152144" y="4617720"/>
            <a:ext cx="82296" cy="82296"/>
          </a:xfrm>
          <a:prstGeom prst="ellipse">
            <a:avLst/>
          </a:prstGeom>
          <a:solidFill>
            <a:srgbClr val="FF6F61"/>
          </a:solidFill>
          <a:ln/>
        </p:spPr>
      </p:sp>
      <p:sp>
        <p:nvSpPr>
          <p:cNvPr id="49" name="Text 47"/>
          <p:cNvSpPr/>
          <p:nvPr/>
        </p:nvSpPr>
        <p:spPr>
          <a:xfrm>
            <a:off x="822960" y="5806440"/>
            <a:ext cx="64008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Syed Mohammad Arif   •   Joshua Akabuogu</a:t>
            </a:r>
            <a:endParaRPr lang="en-US" sz="1500" dirty="0"/>
          </a:p>
        </p:txBody>
      </p:sp>
      <p:sp>
        <p:nvSpPr>
          <p:cNvPr id="50" name="Text 48"/>
          <p:cNvSpPr/>
          <p:nvPr/>
        </p:nvSpPr>
        <p:spPr>
          <a:xfrm>
            <a:off x="822960" y="6144768"/>
            <a:ext cx="6400800" cy="320040"/>
          </a:xfrm>
          <a:prstGeom prst="rect">
            <a:avLst/>
          </a:prstGeom>
          <a:noFill/>
          <a:ln/>
        </p:spPr>
        <p:txBody>
          <a:bodyPr wrap="square" lIns="0" tIns="0" rIns="0" bIns="0" rtlCol="0" anchor="ctr"/>
          <a:lstStyle/>
          <a:p>
            <a:pPr indent="0" marL="0">
              <a:buNone/>
            </a:pPr>
            <a:r>
              <a:rPr lang="en-US" sz="1200" dirty="0">
                <a:solidFill>
                  <a:srgbClr val="9298AC"/>
                </a:solidFill>
                <a:latin typeface="Calibri" pitchFamily="34" charset="0"/>
                <a:ea typeface="Calibri" pitchFamily="34" charset="-122"/>
                <a:cs typeface="Calibri" pitchFamily="34" charset="-120"/>
              </a:rPr>
              <a:t>Seneca Polytechnic — CEP Group Presentation</a:t>
            </a:r>
            <a:endParaRPr lang="en-US" sz="1200" dirty="0"/>
          </a:p>
        </p:txBody>
      </p:sp>
      <p:sp>
        <p:nvSpPr>
          <p:cNvPr id="51" name="Text 49"/>
          <p:cNvSpPr/>
          <p:nvPr/>
        </p:nvSpPr>
        <p:spPr>
          <a:xfrm>
            <a:off x="11414455" y="6400800"/>
            <a:ext cx="548640" cy="274320"/>
          </a:xfrm>
          <a:prstGeom prst="rect">
            <a:avLst/>
          </a:prstGeom>
          <a:noFill/>
          <a:ln/>
        </p:spPr>
        <p:txBody>
          <a:bodyPr wrap="square" lIns="0" tIns="0" rIns="0" bIns="0" rtlCol="0" anchor="ctr"/>
          <a:lstStyle/>
          <a:p>
            <a:pPr algn="r" indent="0" marL="0">
              <a:buNone/>
            </a:pPr>
            <a:r>
              <a:rPr lang="en-US" sz="1000" dirty="0">
                <a:solidFill>
                  <a:srgbClr val="9298AC"/>
                </a:solidFill>
                <a:latin typeface="Courier New" pitchFamily="34" charset="0"/>
                <a:ea typeface="Courier New" pitchFamily="34" charset="-122"/>
                <a:cs typeface="Courier New"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315200" cy="365760"/>
          </a:xfrm>
          <a:prstGeom prst="rect">
            <a:avLst/>
          </a:prstGeom>
          <a:noFill/>
          <a:ln/>
        </p:spPr>
        <p:txBody>
          <a:bodyPr wrap="square" lIns="0" tIns="0" rIns="0" bIns="0" rtlCol="0" anchor="ctr"/>
          <a:lstStyle/>
          <a:p>
            <a:pPr indent="0" marL="0">
              <a:buNone/>
            </a:pPr>
            <a:r>
              <a:rPr lang="en-US" sz="1250" b="1" spc="300" kern="0" dirty="0">
                <a:solidFill>
                  <a:srgbClr val="2BB897"/>
                </a:solidFill>
                <a:latin typeface="Courier New" pitchFamily="34" charset="0"/>
                <a:ea typeface="Courier New" pitchFamily="34" charset="-122"/>
                <a:cs typeface="Courier New" pitchFamily="34" charset="-120"/>
              </a:rPr>
              <a:t>THE HOOK</a:t>
            </a:r>
            <a:endParaRPr lang="en-US" sz="1250" dirty="0"/>
          </a:p>
        </p:txBody>
      </p:sp>
      <p:sp>
        <p:nvSpPr>
          <p:cNvPr id="3" name="Text 1"/>
          <p:cNvSpPr/>
          <p:nvPr/>
        </p:nvSpPr>
        <p:spPr>
          <a:xfrm>
            <a:off x="640080" y="914400"/>
            <a:ext cx="10789920" cy="868680"/>
          </a:xfrm>
          <a:prstGeom prst="rect">
            <a:avLst/>
          </a:prstGeom>
          <a:noFill/>
          <a:ln/>
        </p:spPr>
        <p:txBody>
          <a:bodyPr wrap="square" lIns="0" tIns="0" rIns="0" bIns="0" rtlCol="0" anchor="ctr"/>
          <a:lstStyle/>
          <a:p>
            <a:pPr indent="0" marL="0">
              <a:buNone/>
            </a:pPr>
            <a:r>
              <a:rPr lang="en-US" sz="3200" b="1" dirty="0">
                <a:solidFill>
                  <a:srgbClr val="1A1D29"/>
                </a:solidFill>
                <a:latin typeface="Cambria" pitchFamily="34" charset="0"/>
                <a:ea typeface="Cambria" pitchFamily="34" charset="-122"/>
                <a:cs typeface="Cambria" pitchFamily="34" charset="-120"/>
              </a:rPr>
              <a:t>We've already lived this question.</a:t>
            </a:r>
            <a:endParaRPr lang="en-US" sz="3200" dirty="0"/>
          </a:p>
        </p:txBody>
      </p:sp>
      <p:sp>
        <p:nvSpPr>
          <p:cNvPr id="4" name="Text 2"/>
          <p:cNvSpPr/>
          <p:nvPr/>
        </p:nvSpPr>
        <p:spPr>
          <a:xfrm>
            <a:off x="640080" y="1691640"/>
            <a:ext cx="6400800" cy="1737360"/>
          </a:xfrm>
          <a:prstGeom prst="rect">
            <a:avLst/>
          </a:prstGeom>
          <a:noFill/>
          <a:ln/>
        </p:spPr>
        <p:txBody>
          <a:bodyPr wrap="square" lIns="0" tIns="0" rIns="0" bIns="0" rtlCol="0" anchor="ctr"/>
          <a:lstStyle/>
          <a:p>
            <a:pPr indent="0" marL="0">
              <a:lnSpc>
                <a:spcPct val="125000"/>
              </a:lnSpc>
              <a:buNone/>
            </a:pPr>
            <a:r>
              <a:rPr lang="en-US" sz="1600" dirty="0">
                <a:solidFill>
                  <a:srgbClr val="4A4F66"/>
                </a:solidFill>
                <a:latin typeface="Calibri" pitchFamily="34" charset="0"/>
                <a:ea typeface="Calibri" pitchFamily="34" charset="-122"/>
                <a:cs typeface="Calibri" pitchFamily="34" charset="-120"/>
              </a:rPr>
              <a:t>Almost everyone in this room has had Copilot or Cursor finish a line of code before they did. The real question the industry is fighting over right now isn't whether AI tools help — it's what they're doing to the first rung of the career ladder.</a:t>
            </a:r>
            <a:endParaRPr lang="en-US" sz="1600" dirty="0"/>
          </a:p>
        </p:txBody>
      </p:sp>
      <p:sp>
        <p:nvSpPr>
          <p:cNvPr id="5" name="Shape 3"/>
          <p:cNvSpPr/>
          <p:nvPr/>
        </p:nvSpPr>
        <p:spPr>
          <a:xfrm>
            <a:off x="640080" y="3611880"/>
            <a:ext cx="6263640" cy="914400"/>
          </a:xfrm>
          <a:prstGeom prst="roundRect">
            <a:avLst>
              <a:gd name="adj" fmla="val 8000"/>
            </a:avLst>
          </a:prstGeom>
          <a:solidFill>
            <a:srgbClr val="F5F6FA"/>
          </a:solidFill>
          <a:ln/>
          <a:effectLst>
            <a:outerShdw sx="100000" sy="100000" kx="0" ky="0" algn="bl" rotWithShape="0" blurRad="101600" dist="38100" dir="2700000">
              <a:srgbClr val="000000">
                <a:alpha val="8000"/>
              </a:srgbClr>
            </a:outerShdw>
          </a:effectLst>
        </p:spPr>
      </p:sp>
      <p:sp>
        <p:nvSpPr>
          <p:cNvPr id="6" name="Shape 4"/>
          <p:cNvSpPr/>
          <p:nvPr/>
        </p:nvSpPr>
        <p:spPr>
          <a:xfrm>
            <a:off x="868680" y="3785616"/>
            <a:ext cx="566928" cy="566928"/>
          </a:xfrm>
          <a:prstGeom prst="ellipse">
            <a:avLst/>
          </a:prstGeom>
          <a:solidFill>
            <a:srgbClr val="2BB897"/>
          </a:solidFill>
          <a:ln/>
        </p:spPr>
      </p:sp>
      <p:pic>
        <p:nvPicPr>
          <p:cNvPr id="7" name="Image 0" descr="icons/rocket_white.png">    </p:cNvPr>
          <p:cNvPicPr>
            <a:picLocks noChangeAspect="1"/>
          </p:cNvPicPr>
          <p:nvPr/>
        </p:nvPicPr>
        <p:blipFill>
          <a:blip r:embed="rId1"/>
          <a:stretch>
            <a:fillRect/>
          </a:stretch>
        </p:blipFill>
        <p:spPr>
          <a:xfrm>
            <a:off x="959388" y="3876324"/>
            <a:ext cx="385511" cy="385511"/>
          </a:xfrm>
          <a:prstGeom prst="rect">
            <a:avLst/>
          </a:prstGeom>
        </p:spPr>
      </p:pic>
      <p:sp>
        <p:nvSpPr>
          <p:cNvPr id="8" name="Text 5"/>
          <p:cNvSpPr/>
          <p:nvPr/>
        </p:nvSpPr>
        <p:spPr>
          <a:xfrm>
            <a:off x="1600200" y="3739896"/>
            <a:ext cx="5120640" cy="320040"/>
          </a:xfrm>
          <a:prstGeom prst="rect">
            <a:avLst/>
          </a:prstGeom>
          <a:noFill/>
          <a:ln/>
        </p:spPr>
        <p:txBody>
          <a:bodyPr wrap="square" lIns="0" tIns="0" rIns="0" bIns="0" rtlCol="0" anchor="ctr"/>
          <a:lstStyle/>
          <a:p>
            <a:pPr indent="0" marL="0">
              <a:buNone/>
            </a:pPr>
            <a:r>
              <a:rPr lang="en-US" sz="1500" b="1" dirty="0">
                <a:solidFill>
                  <a:srgbClr val="1A1D29"/>
                </a:solidFill>
                <a:latin typeface="Calibri" pitchFamily="34" charset="0"/>
                <a:ea typeface="Calibri" pitchFamily="34" charset="-122"/>
                <a:cs typeface="Calibri" pitchFamily="34" charset="-120"/>
              </a:rPr>
              <a:t>Faster, but not magic</a:t>
            </a:r>
            <a:endParaRPr lang="en-US" sz="1500" dirty="0"/>
          </a:p>
        </p:txBody>
      </p:sp>
      <p:sp>
        <p:nvSpPr>
          <p:cNvPr id="9" name="Text 6"/>
          <p:cNvSpPr/>
          <p:nvPr/>
        </p:nvSpPr>
        <p:spPr>
          <a:xfrm>
            <a:off x="1600200" y="4050792"/>
            <a:ext cx="5120640" cy="365760"/>
          </a:xfrm>
          <a:prstGeom prst="rect">
            <a:avLst/>
          </a:prstGeom>
          <a:noFill/>
          <a:ln/>
        </p:spPr>
        <p:txBody>
          <a:bodyPr wrap="square" lIns="0" tIns="0" rIns="0" bIns="0" rtlCol="0" anchor="ctr"/>
          <a:lstStyle/>
          <a:p>
            <a:pPr indent="0" marL="0">
              <a:buNone/>
            </a:pPr>
            <a:r>
              <a:rPr lang="en-US" sz="1250" dirty="0">
                <a:solidFill>
                  <a:srgbClr val="4A4F66"/>
                </a:solidFill>
                <a:latin typeface="Calibri" pitchFamily="34" charset="0"/>
                <a:ea typeface="Calibri" pitchFamily="34" charset="-122"/>
                <a:cs typeface="Calibri" pitchFamily="34" charset="-120"/>
              </a:rPr>
              <a:t>Real productivity gains — just far below the ‘10x’ hype.</a:t>
            </a:r>
            <a:endParaRPr lang="en-US" sz="1250" dirty="0"/>
          </a:p>
        </p:txBody>
      </p:sp>
      <p:sp>
        <p:nvSpPr>
          <p:cNvPr id="10" name="Shape 7"/>
          <p:cNvSpPr/>
          <p:nvPr/>
        </p:nvSpPr>
        <p:spPr>
          <a:xfrm>
            <a:off x="640080" y="4709160"/>
            <a:ext cx="6263640" cy="914400"/>
          </a:xfrm>
          <a:prstGeom prst="roundRect">
            <a:avLst>
              <a:gd name="adj" fmla="val 8000"/>
            </a:avLst>
          </a:prstGeom>
          <a:solidFill>
            <a:srgbClr val="F5F6FA"/>
          </a:solidFill>
          <a:ln/>
          <a:effectLst>
            <a:outerShdw sx="100000" sy="100000" kx="0" ky="0" algn="bl" rotWithShape="0" blurRad="101600" dist="38100" dir="2700000">
              <a:srgbClr val="000000">
                <a:alpha val="8000"/>
              </a:srgbClr>
            </a:outerShdw>
          </a:effectLst>
        </p:spPr>
      </p:sp>
      <p:sp>
        <p:nvSpPr>
          <p:cNvPr id="11" name="Shape 8"/>
          <p:cNvSpPr/>
          <p:nvPr/>
        </p:nvSpPr>
        <p:spPr>
          <a:xfrm>
            <a:off x="868680" y="4882896"/>
            <a:ext cx="566928" cy="566928"/>
          </a:xfrm>
          <a:prstGeom prst="ellipse">
            <a:avLst/>
          </a:prstGeom>
          <a:solidFill>
            <a:srgbClr val="E04F40"/>
          </a:solidFill>
          <a:ln/>
        </p:spPr>
      </p:sp>
      <p:pic>
        <p:nvPicPr>
          <p:cNvPr id="12" name="Image 1" descr="icons/warning_white.png">    </p:cNvPr>
          <p:cNvPicPr>
            <a:picLocks noChangeAspect="1"/>
          </p:cNvPicPr>
          <p:nvPr/>
        </p:nvPicPr>
        <p:blipFill>
          <a:blip r:embed="rId2"/>
          <a:stretch>
            <a:fillRect/>
          </a:stretch>
        </p:blipFill>
        <p:spPr>
          <a:xfrm>
            <a:off x="959388" y="4973604"/>
            <a:ext cx="385511" cy="385511"/>
          </a:xfrm>
          <a:prstGeom prst="rect">
            <a:avLst/>
          </a:prstGeom>
        </p:spPr>
      </p:pic>
      <p:sp>
        <p:nvSpPr>
          <p:cNvPr id="13" name="Text 9"/>
          <p:cNvSpPr/>
          <p:nvPr/>
        </p:nvSpPr>
        <p:spPr>
          <a:xfrm>
            <a:off x="1600200" y="4837176"/>
            <a:ext cx="5120640" cy="320040"/>
          </a:xfrm>
          <a:prstGeom prst="rect">
            <a:avLst/>
          </a:prstGeom>
          <a:noFill/>
          <a:ln/>
        </p:spPr>
        <p:txBody>
          <a:bodyPr wrap="square" lIns="0" tIns="0" rIns="0" bIns="0" rtlCol="0" anchor="ctr"/>
          <a:lstStyle/>
          <a:p>
            <a:pPr indent="0" marL="0">
              <a:buNone/>
            </a:pPr>
            <a:r>
              <a:rPr lang="en-US" sz="1500" b="1" dirty="0">
                <a:solidFill>
                  <a:srgbClr val="1A1D29"/>
                </a:solidFill>
                <a:latin typeface="Calibri" pitchFamily="34" charset="0"/>
                <a:ea typeface="Calibri" pitchFamily="34" charset="-122"/>
                <a:cs typeface="Calibri" pitchFamily="34" charset="-120"/>
              </a:rPr>
              <a:t>Fewer doors for new grads?</a:t>
            </a:r>
            <a:endParaRPr lang="en-US" sz="1500" dirty="0"/>
          </a:p>
        </p:txBody>
      </p:sp>
      <p:sp>
        <p:nvSpPr>
          <p:cNvPr id="14" name="Text 10"/>
          <p:cNvSpPr/>
          <p:nvPr/>
        </p:nvSpPr>
        <p:spPr>
          <a:xfrm>
            <a:off x="1600200" y="5148072"/>
            <a:ext cx="5120640" cy="365760"/>
          </a:xfrm>
          <a:prstGeom prst="rect">
            <a:avLst/>
          </a:prstGeom>
          <a:noFill/>
          <a:ln/>
        </p:spPr>
        <p:txBody>
          <a:bodyPr wrap="square" lIns="0" tIns="0" rIns="0" bIns="0" rtlCol="0" anchor="ctr"/>
          <a:lstStyle/>
          <a:p>
            <a:pPr indent="0" marL="0">
              <a:buNone/>
            </a:pPr>
            <a:r>
              <a:rPr lang="en-US" sz="1250" dirty="0">
                <a:solidFill>
                  <a:srgbClr val="4A4F66"/>
                </a:solidFill>
                <a:latin typeface="Calibri" pitchFamily="34" charset="0"/>
                <a:ea typeface="Calibri" pitchFamily="34" charset="-122"/>
                <a:cs typeface="Calibri" pitchFamily="34" charset="-120"/>
              </a:rPr>
              <a:t>Junior hiring is down sharply — and the industry disagrees on why.</a:t>
            </a:r>
            <a:endParaRPr lang="en-US" sz="1250" dirty="0"/>
          </a:p>
        </p:txBody>
      </p:sp>
      <p:sp>
        <p:nvSpPr>
          <p:cNvPr id="15" name="Shape 11"/>
          <p:cNvSpPr/>
          <p:nvPr/>
        </p:nvSpPr>
        <p:spPr>
          <a:xfrm>
            <a:off x="7360920" y="914400"/>
            <a:ext cx="4160520" cy="5166360"/>
          </a:xfrm>
          <a:prstGeom prst="roundRect">
            <a:avLst>
              <a:gd name="adj" fmla="val 2198"/>
            </a:avLst>
          </a:prstGeom>
          <a:solidFill>
            <a:srgbClr val="12141C"/>
          </a:solidFill>
          <a:ln/>
          <a:effectLst>
            <a:outerShdw sx="100000" sy="100000" kx="0" ky="0" algn="bl" rotWithShape="0" blurRad="127000" dist="38100" dir="2700000">
              <a:srgbClr val="000000">
                <a:alpha val="18000"/>
              </a:srgbClr>
            </a:outerShdw>
          </a:effectLst>
        </p:spPr>
      </p:sp>
      <p:sp>
        <p:nvSpPr>
          <p:cNvPr id="16" name="Text 12"/>
          <p:cNvSpPr/>
          <p:nvPr/>
        </p:nvSpPr>
        <p:spPr>
          <a:xfrm>
            <a:off x="7726680" y="1280160"/>
            <a:ext cx="3429000" cy="365760"/>
          </a:xfrm>
          <a:prstGeom prst="rect">
            <a:avLst/>
          </a:prstGeom>
          <a:noFill/>
          <a:ln/>
        </p:spPr>
        <p:txBody>
          <a:bodyPr wrap="square" lIns="0" tIns="0" rIns="0" bIns="0" rtlCol="0" anchor="ctr"/>
          <a:lstStyle/>
          <a:p>
            <a:pPr indent="0" marL="0">
              <a:buNone/>
            </a:pPr>
            <a:r>
              <a:rPr lang="en-US" sz="1100" b="1" spc="200" kern="0" dirty="0">
                <a:solidFill>
                  <a:srgbClr val="7DF9C1"/>
                </a:solidFill>
                <a:latin typeface="Courier New" pitchFamily="34" charset="0"/>
                <a:ea typeface="Courier New" pitchFamily="34" charset="-122"/>
                <a:cs typeface="Courier New" pitchFamily="34" charset="-120"/>
              </a:rPr>
              <a:t>OF DEVS USE AI TOOLS TODAY</a:t>
            </a:r>
            <a:endParaRPr lang="en-US" sz="1100" dirty="0"/>
          </a:p>
        </p:txBody>
      </p:sp>
      <p:sp>
        <p:nvSpPr>
          <p:cNvPr id="17" name="Text 13"/>
          <p:cNvSpPr/>
          <p:nvPr/>
        </p:nvSpPr>
        <p:spPr>
          <a:xfrm>
            <a:off x="7726680" y="1600200"/>
            <a:ext cx="3429000" cy="1280160"/>
          </a:xfrm>
          <a:prstGeom prst="rect">
            <a:avLst/>
          </a:prstGeom>
          <a:noFill/>
          <a:ln/>
        </p:spPr>
        <p:txBody>
          <a:bodyPr wrap="square" lIns="0" tIns="0" rIns="0" bIns="0" rtlCol="0" anchor="ctr"/>
          <a:lstStyle/>
          <a:p>
            <a:pPr indent="0" marL="0">
              <a:buNone/>
            </a:pPr>
            <a:r>
              <a:rPr lang="en-US" sz="7200" b="1" dirty="0">
                <a:solidFill>
                  <a:srgbClr val="FFFFFF"/>
                </a:solidFill>
                <a:latin typeface="Cambria" pitchFamily="34" charset="0"/>
                <a:ea typeface="Cambria" pitchFamily="34" charset="-122"/>
                <a:cs typeface="Cambria" pitchFamily="34" charset="-120"/>
              </a:rPr>
              <a:t>84%</a:t>
            </a:r>
            <a:endParaRPr lang="en-US" sz="7200" dirty="0"/>
          </a:p>
        </p:txBody>
      </p:sp>
      <p:sp>
        <p:nvSpPr>
          <p:cNvPr id="18" name="Text 14"/>
          <p:cNvSpPr/>
          <p:nvPr/>
        </p:nvSpPr>
        <p:spPr>
          <a:xfrm>
            <a:off x="7726680" y="2788920"/>
            <a:ext cx="3429000" cy="548640"/>
          </a:xfrm>
          <a:prstGeom prst="rect">
            <a:avLst/>
          </a:prstGeom>
          <a:noFill/>
          <a:ln/>
        </p:spPr>
        <p:txBody>
          <a:bodyPr wrap="square" lIns="0" tIns="0" rIns="0" bIns="0" rtlCol="0" anchor="ctr"/>
          <a:lstStyle/>
          <a:p>
            <a:pPr indent="0" marL="0">
              <a:buNone/>
            </a:pPr>
            <a:r>
              <a:rPr lang="en-US" sz="1200" i="1" dirty="0">
                <a:solidFill>
                  <a:srgbClr val="9298AC"/>
                </a:solidFill>
                <a:latin typeface="Calibri" pitchFamily="34" charset="0"/>
                <a:ea typeface="Calibri" pitchFamily="34" charset="-122"/>
                <a:cs typeface="Calibri" pitchFamily="34" charset="-120"/>
              </a:rPr>
              <a:t>up from 76% in 2024 (Stack Overflow, 2025)</a:t>
            </a:r>
            <a:endParaRPr lang="en-US" sz="1200" dirty="0"/>
          </a:p>
        </p:txBody>
      </p:sp>
      <p:sp>
        <p:nvSpPr>
          <p:cNvPr id="19" name="Shape 15"/>
          <p:cNvSpPr/>
          <p:nvPr/>
        </p:nvSpPr>
        <p:spPr>
          <a:xfrm>
            <a:off x="7726680" y="3611880"/>
            <a:ext cx="54864" cy="54864"/>
          </a:xfrm>
          <a:prstGeom prst="ellipse">
            <a:avLst/>
          </a:prstGeom>
          <a:solidFill>
            <a:srgbClr val="323851"/>
          </a:solidFill>
          <a:ln/>
        </p:spPr>
      </p:sp>
      <p:sp>
        <p:nvSpPr>
          <p:cNvPr id="20" name="Shape 16"/>
          <p:cNvSpPr/>
          <p:nvPr/>
        </p:nvSpPr>
        <p:spPr>
          <a:xfrm>
            <a:off x="7909560" y="3611880"/>
            <a:ext cx="54864" cy="54864"/>
          </a:xfrm>
          <a:prstGeom prst="ellipse">
            <a:avLst/>
          </a:prstGeom>
          <a:solidFill>
            <a:srgbClr val="323851"/>
          </a:solidFill>
          <a:ln/>
        </p:spPr>
      </p:sp>
      <p:sp>
        <p:nvSpPr>
          <p:cNvPr id="21" name="Shape 17"/>
          <p:cNvSpPr/>
          <p:nvPr/>
        </p:nvSpPr>
        <p:spPr>
          <a:xfrm>
            <a:off x="8092440" y="3611880"/>
            <a:ext cx="54864" cy="54864"/>
          </a:xfrm>
          <a:prstGeom prst="ellipse">
            <a:avLst/>
          </a:prstGeom>
          <a:solidFill>
            <a:srgbClr val="323851"/>
          </a:solidFill>
          <a:ln/>
        </p:spPr>
      </p:sp>
      <p:sp>
        <p:nvSpPr>
          <p:cNvPr id="22" name="Text 18"/>
          <p:cNvSpPr/>
          <p:nvPr/>
        </p:nvSpPr>
        <p:spPr>
          <a:xfrm>
            <a:off x="7726680" y="3886200"/>
            <a:ext cx="3429000" cy="365760"/>
          </a:xfrm>
          <a:prstGeom prst="rect">
            <a:avLst/>
          </a:prstGeom>
          <a:noFill/>
          <a:ln/>
        </p:spPr>
        <p:txBody>
          <a:bodyPr wrap="square" lIns="0" tIns="0" rIns="0" bIns="0" rtlCol="0" anchor="ctr"/>
          <a:lstStyle/>
          <a:p>
            <a:pPr indent="0" marL="0">
              <a:buNone/>
            </a:pPr>
            <a:r>
              <a:rPr lang="en-US" sz="1100" b="1" spc="200" kern="0" dirty="0">
                <a:solidFill>
                  <a:srgbClr val="FF6F61"/>
                </a:solidFill>
                <a:latin typeface="Courier New" pitchFamily="34" charset="0"/>
                <a:ea typeface="Courier New" pitchFamily="34" charset="-122"/>
                <a:cs typeface="Courier New" pitchFamily="34" charset="-120"/>
              </a:rPr>
              <a:t>DOWN 20% SINCE 2022</a:t>
            </a:r>
            <a:endParaRPr lang="en-US" sz="1100" dirty="0"/>
          </a:p>
        </p:txBody>
      </p:sp>
      <p:sp>
        <p:nvSpPr>
          <p:cNvPr id="23" name="Text 19"/>
          <p:cNvSpPr/>
          <p:nvPr/>
        </p:nvSpPr>
        <p:spPr>
          <a:xfrm>
            <a:off x="7726680" y="4224528"/>
            <a:ext cx="3429000" cy="502920"/>
          </a:xfrm>
          <a:prstGeom prst="rect">
            <a:avLst/>
          </a:prstGeom>
          <a:noFill/>
          <a:ln/>
        </p:spPr>
        <p:txBody>
          <a:bodyPr wrap="square" lIns="0" tIns="0" rIns="0" bIns="0" rtlCol="0" anchor="ctr"/>
          <a:lstStyle/>
          <a:p>
            <a:pPr indent="0" marL="0">
              <a:buNone/>
            </a:pPr>
            <a:r>
              <a:rPr lang="en-US" sz="1350" b="1" dirty="0">
                <a:solidFill>
                  <a:srgbClr val="EDEFF7"/>
                </a:solidFill>
                <a:latin typeface="Calibri" pitchFamily="34" charset="0"/>
                <a:ea typeface="Calibri" pitchFamily="34" charset="-122"/>
                <a:cs typeface="Calibri" pitchFamily="34" charset="-120"/>
              </a:rPr>
              <a:t>Entry-level dev jobs (age 22–25)</a:t>
            </a:r>
            <a:endParaRPr lang="en-US" sz="1350" dirty="0"/>
          </a:p>
        </p:txBody>
      </p:sp>
      <p:sp>
        <p:nvSpPr>
          <p:cNvPr id="24" name="Text 20"/>
          <p:cNvSpPr/>
          <p:nvPr/>
        </p:nvSpPr>
        <p:spPr>
          <a:xfrm>
            <a:off x="7726680" y="4709160"/>
            <a:ext cx="3429000" cy="365760"/>
          </a:xfrm>
          <a:prstGeom prst="rect">
            <a:avLst/>
          </a:prstGeom>
          <a:noFill/>
          <a:ln/>
        </p:spPr>
        <p:txBody>
          <a:bodyPr wrap="square" lIns="0" tIns="0" rIns="0" bIns="0" rtlCol="0" anchor="ctr"/>
          <a:lstStyle/>
          <a:p>
            <a:pPr indent="0" marL="0">
              <a:buNone/>
            </a:pPr>
            <a:r>
              <a:rPr lang="en-US" sz="1150" i="1" dirty="0">
                <a:solidFill>
                  <a:srgbClr val="9298AC"/>
                </a:solidFill>
                <a:latin typeface="Calibri" pitchFamily="34" charset="0"/>
                <a:ea typeface="Calibri" pitchFamily="34" charset="-122"/>
                <a:cs typeface="Calibri" pitchFamily="34" charset="-120"/>
              </a:rPr>
              <a:t>Stanford Digital Economy Study, 2025</a:t>
            </a:r>
            <a:endParaRPr lang="en-US" sz="1150" dirty="0"/>
          </a:p>
        </p:txBody>
      </p:sp>
      <p:sp>
        <p:nvSpPr>
          <p:cNvPr id="25" name="Text 21"/>
          <p:cNvSpPr/>
          <p:nvPr/>
        </p:nvSpPr>
        <p:spPr>
          <a:xfrm>
            <a:off x="11414455" y="6400800"/>
            <a:ext cx="548640" cy="274320"/>
          </a:xfrm>
          <a:prstGeom prst="rect">
            <a:avLst/>
          </a:prstGeom>
          <a:noFill/>
          <a:ln/>
        </p:spPr>
        <p:txBody>
          <a:bodyPr wrap="square" lIns="0" tIns="0" rIns="0" bIns="0" rtlCol="0" anchor="ctr"/>
          <a:lstStyle/>
          <a:p>
            <a:pPr algn="r" indent="0" marL="0">
              <a:buNone/>
            </a:pPr>
            <a:r>
              <a:rPr lang="en-US" sz="1000" dirty="0">
                <a:solidFill>
                  <a:srgbClr val="4A4F66"/>
                </a:solidFill>
                <a:latin typeface="Courier New" pitchFamily="34" charset="0"/>
                <a:ea typeface="Courier New" pitchFamily="34" charset="-122"/>
                <a:cs typeface="Courier New"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640080" y="502920"/>
            <a:ext cx="7315200" cy="365760"/>
          </a:xfrm>
          <a:prstGeom prst="rect">
            <a:avLst/>
          </a:prstGeom>
          <a:noFill/>
          <a:ln/>
        </p:spPr>
        <p:txBody>
          <a:bodyPr wrap="square" lIns="0" tIns="0" rIns="0" bIns="0" rtlCol="0" anchor="ctr"/>
          <a:lstStyle/>
          <a:p>
            <a:pPr indent="0" marL="0">
              <a:buNone/>
            </a:pPr>
            <a:r>
              <a:rPr lang="en-US" sz="1250" b="1" spc="300" kern="0" dirty="0">
                <a:solidFill>
                  <a:srgbClr val="7DF9C1"/>
                </a:solidFill>
                <a:latin typeface="Courier New" pitchFamily="34" charset="0"/>
                <a:ea typeface="Courier New" pitchFamily="34" charset="-122"/>
                <a:cs typeface="Courier New" pitchFamily="34" charset="-120"/>
              </a:rPr>
              <a:t>WHAT'S HAPPENING</a:t>
            </a:r>
            <a:endParaRPr lang="en-US" sz="1250" dirty="0"/>
          </a:p>
        </p:txBody>
      </p:sp>
      <p:sp>
        <p:nvSpPr>
          <p:cNvPr id="3" name="Text 1"/>
          <p:cNvSpPr/>
          <p:nvPr/>
        </p:nvSpPr>
        <p:spPr>
          <a:xfrm>
            <a:off x="640080" y="914400"/>
            <a:ext cx="10789920" cy="7772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AI tools went from novelty to default.</a:t>
            </a:r>
            <a:endParaRPr lang="en-US" sz="3000" dirty="0"/>
          </a:p>
        </p:txBody>
      </p:sp>
      <p:sp>
        <p:nvSpPr>
          <p:cNvPr id="4" name="Shape 2"/>
          <p:cNvSpPr/>
          <p:nvPr/>
        </p:nvSpPr>
        <p:spPr>
          <a:xfrm>
            <a:off x="640080" y="1965960"/>
            <a:ext cx="2651760" cy="3566160"/>
          </a:xfrm>
          <a:prstGeom prst="roundRect">
            <a:avLst>
              <a:gd name="adj" fmla="val 3103"/>
            </a:avLst>
          </a:prstGeom>
          <a:solidFill>
            <a:srgbClr val="1A1D29"/>
          </a:solidFill>
          <a:ln/>
          <a:effectLst>
            <a:outerShdw sx="100000" sy="100000" kx="0" ky="0" algn="bl" rotWithShape="0" blurRad="114300" dist="38100" dir="2700000">
              <a:srgbClr val="000000">
                <a:alpha val="20000"/>
              </a:srgbClr>
            </a:outerShdw>
          </a:effectLst>
        </p:spPr>
      </p:sp>
      <p:sp>
        <p:nvSpPr>
          <p:cNvPr id="5" name="Shape 3"/>
          <p:cNvSpPr/>
          <p:nvPr/>
        </p:nvSpPr>
        <p:spPr>
          <a:xfrm>
            <a:off x="932688" y="2258568"/>
            <a:ext cx="548640" cy="548640"/>
          </a:xfrm>
          <a:prstGeom prst="ellipse">
            <a:avLst/>
          </a:prstGeom>
          <a:solidFill>
            <a:srgbClr val="7DF9C1"/>
          </a:solidFill>
          <a:ln/>
        </p:spPr>
      </p:sp>
      <p:pic>
        <p:nvPicPr>
          <p:cNvPr id="6" name="Image 0" descr="icons/users_white.png">    </p:cNvPr>
          <p:cNvPicPr>
            <a:picLocks noChangeAspect="1"/>
          </p:cNvPicPr>
          <p:nvPr/>
        </p:nvPicPr>
        <p:blipFill>
          <a:blip r:embed="rId1"/>
          <a:stretch>
            <a:fillRect/>
          </a:stretch>
        </p:blipFill>
        <p:spPr>
          <a:xfrm>
            <a:off x="1020470" y="2346350"/>
            <a:ext cx="373075" cy="373075"/>
          </a:xfrm>
          <a:prstGeom prst="rect">
            <a:avLst/>
          </a:prstGeom>
        </p:spPr>
      </p:pic>
      <p:sp>
        <p:nvSpPr>
          <p:cNvPr id="7" name="Text 4"/>
          <p:cNvSpPr/>
          <p:nvPr/>
        </p:nvSpPr>
        <p:spPr>
          <a:xfrm>
            <a:off x="868680" y="3017520"/>
            <a:ext cx="219456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20M</a:t>
            </a:r>
            <a:endParaRPr lang="en-US" sz="3800" dirty="0"/>
          </a:p>
        </p:txBody>
      </p:sp>
      <p:sp>
        <p:nvSpPr>
          <p:cNvPr id="8" name="Text 5"/>
          <p:cNvSpPr/>
          <p:nvPr/>
        </p:nvSpPr>
        <p:spPr>
          <a:xfrm>
            <a:off x="868680" y="3904488"/>
            <a:ext cx="2194560" cy="777240"/>
          </a:xfrm>
          <a:prstGeom prst="rect">
            <a:avLst/>
          </a:prstGeom>
          <a:noFill/>
          <a:ln/>
        </p:spPr>
        <p:txBody>
          <a:bodyPr wrap="square" lIns="0" tIns="0" rIns="0" bIns="0" rtlCol="0" anchor="ctr"/>
          <a:lstStyle/>
          <a:p>
            <a:pPr indent="0" marL="0">
              <a:lnSpc>
                <a:spcPct val="115000"/>
              </a:lnSpc>
              <a:buNone/>
            </a:pPr>
            <a:r>
              <a:rPr lang="en-US" sz="1350" b="1" dirty="0">
                <a:solidFill>
                  <a:srgbClr val="EDEFF7"/>
                </a:solidFill>
                <a:latin typeface="Calibri" pitchFamily="34" charset="0"/>
                <a:ea typeface="Calibri" pitchFamily="34" charset="-122"/>
                <a:cs typeface="Calibri" pitchFamily="34" charset="-120"/>
              </a:rPr>
              <a:t>GitHub Copilot users</a:t>
            </a:r>
            <a:endParaRPr lang="en-US" sz="1350" dirty="0"/>
          </a:p>
        </p:txBody>
      </p:sp>
      <p:sp>
        <p:nvSpPr>
          <p:cNvPr id="9" name="Text 6"/>
          <p:cNvSpPr/>
          <p:nvPr/>
        </p:nvSpPr>
        <p:spPr>
          <a:xfrm>
            <a:off x="868680" y="4965192"/>
            <a:ext cx="2194560" cy="457200"/>
          </a:xfrm>
          <a:prstGeom prst="rect">
            <a:avLst/>
          </a:prstGeom>
          <a:noFill/>
          <a:ln/>
        </p:spPr>
        <p:txBody>
          <a:bodyPr wrap="square" lIns="0" tIns="0" rIns="0" bIns="0" rtlCol="0" anchor="ctr"/>
          <a:lstStyle/>
          <a:p>
            <a:pPr indent="0" marL="0">
              <a:lnSpc>
                <a:spcPct val="110000"/>
              </a:lnSpc>
              <a:buNone/>
            </a:pPr>
            <a:r>
              <a:rPr lang="en-US" sz="1050" i="1" dirty="0">
                <a:solidFill>
                  <a:srgbClr val="9298AC"/>
                </a:solidFill>
                <a:latin typeface="Calibri" pitchFamily="34" charset="0"/>
                <a:ea typeface="Calibri" pitchFamily="34" charset="-122"/>
                <a:cs typeface="Calibri" pitchFamily="34" charset="-120"/>
              </a:rPr>
              <a:t>Microsoft, July 2025</a:t>
            </a:r>
            <a:endParaRPr lang="en-US" sz="1050" dirty="0"/>
          </a:p>
        </p:txBody>
      </p:sp>
      <p:sp>
        <p:nvSpPr>
          <p:cNvPr id="10" name="Shape 7"/>
          <p:cNvSpPr/>
          <p:nvPr/>
        </p:nvSpPr>
        <p:spPr>
          <a:xfrm>
            <a:off x="3538728" y="1965960"/>
            <a:ext cx="2651760" cy="3566160"/>
          </a:xfrm>
          <a:prstGeom prst="roundRect">
            <a:avLst>
              <a:gd name="adj" fmla="val 3103"/>
            </a:avLst>
          </a:prstGeom>
          <a:solidFill>
            <a:srgbClr val="1A1D29"/>
          </a:solidFill>
          <a:ln/>
          <a:effectLst>
            <a:outerShdw sx="100000" sy="100000" kx="0" ky="0" algn="bl" rotWithShape="0" blurRad="114300" dist="38100" dir="2700000">
              <a:srgbClr val="000000">
                <a:alpha val="20000"/>
              </a:srgbClr>
            </a:outerShdw>
          </a:effectLst>
        </p:spPr>
      </p:sp>
      <p:sp>
        <p:nvSpPr>
          <p:cNvPr id="11" name="Shape 8"/>
          <p:cNvSpPr/>
          <p:nvPr/>
        </p:nvSpPr>
        <p:spPr>
          <a:xfrm>
            <a:off x="3831336" y="2258568"/>
            <a:ext cx="548640" cy="548640"/>
          </a:xfrm>
          <a:prstGeom prst="ellipse">
            <a:avLst/>
          </a:prstGeom>
          <a:solidFill>
            <a:srgbClr val="8B7CF6"/>
          </a:solidFill>
          <a:ln/>
        </p:spPr>
      </p:sp>
      <p:pic>
        <p:nvPicPr>
          <p:cNvPr id="12" name="Image 1" descr="icons/usertie_white.png">    </p:cNvPr>
          <p:cNvPicPr>
            <a:picLocks noChangeAspect="1"/>
          </p:cNvPicPr>
          <p:nvPr/>
        </p:nvPicPr>
        <p:blipFill>
          <a:blip r:embed="rId2"/>
          <a:stretch>
            <a:fillRect/>
          </a:stretch>
        </p:blipFill>
        <p:spPr>
          <a:xfrm>
            <a:off x="3919118" y="2346350"/>
            <a:ext cx="373075" cy="373075"/>
          </a:xfrm>
          <a:prstGeom prst="rect">
            <a:avLst/>
          </a:prstGeom>
        </p:spPr>
      </p:pic>
      <p:sp>
        <p:nvSpPr>
          <p:cNvPr id="13" name="Text 9"/>
          <p:cNvSpPr/>
          <p:nvPr/>
        </p:nvSpPr>
        <p:spPr>
          <a:xfrm>
            <a:off x="3767328" y="3017520"/>
            <a:ext cx="219456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90%</a:t>
            </a:r>
            <a:endParaRPr lang="en-US" sz="3800" dirty="0"/>
          </a:p>
        </p:txBody>
      </p:sp>
      <p:sp>
        <p:nvSpPr>
          <p:cNvPr id="14" name="Text 10"/>
          <p:cNvSpPr/>
          <p:nvPr/>
        </p:nvSpPr>
        <p:spPr>
          <a:xfrm>
            <a:off x="3767328" y="3904488"/>
            <a:ext cx="2194560" cy="777240"/>
          </a:xfrm>
          <a:prstGeom prst="rect">
            <a:avLst/>
          </a:prstGeom>
          <a:noFill/>
          <a:ln/>
        </p:spPr>
        <p:txBody>
          <a:bodyPr wrap="square" lIns="0" tIns="0" rIns="0" bIns="0" rtlCol="0" anchor="ctr"/>
          <a:lstStyle/>
          <a:p>
            <a:pPr indent="0" marL="0">
              <a:lnSpc>
                <a:spcPct val="115000"/>
              </a:lnSpc>
              <a:buNone/>
            </a:pPr>
            <a:r>
              <a:rPr lang="en-US" sz="1350" b="1" dirty="0">
                <a:solidFill>
                  <a:srgbClr val="EDEFF7"/>
                </a:solidFill>
                <a:latin typeface="Calibri" pitchFamily="34" charset="0"/>
                <a:ea typeface="Calibri" pitchFamily="34" charset="-122"/>
                <a:cs typeface="Calibri" pitchFamily="34" charset="-120"/>
              </a:rPr>
              <a:t>of Fortune 100 use Copilot</a:t>
            </a:r>
            <a:endParaRPr lang="en-US" sz="1350" dirty="0"/>
          </a:p>
        </p:txBody>
      </p:sp>
      <p:sp>
        <p:nvSpPr>
          <p:cNvPr id="15" name="Text 11"/>
          <p:cNvSpPr/>
          <p:nvPr/>
        </p:nvSpPr>
        <p:spPr>
          <a:xfrm>
            <a:off x="3767328" y="4965192"/>
            <a:ext cx="2194560" cy="457200"/>
          </a:xfrm>
          <a:prstGeom prst="rect">
            <a:avLst/>
          </a:prstGeom>
          <a:noFill/>
          <a:ln/>
        </p:spPr>
        <p:txBody>
          <a:bodyPr wrap="square" lIns="0" tIns="0" rIns="0" bIns="0" rtlCol="0" anchor="ctr"/>
          <a:lstStyle/>
          <a:p>
            <a:pPr indent="0" marL="0">
              <a:lnSpc>
                <a:spcPct val="110000"/>
              </a:lnSpc>
              <a:buNone/>
            </a:pPr>
            <a:r>
              <a:rPr lang="en-US" sz="1050" i="1" dirty="0">
                <a:solidFill>
                  <a:srgbClr val="9298AC"/>
                </a:solidFill>
                <a:latin typeface="Calibri" pitchFamily="34" charset="0"/>
                <a:ea typeface="Calibri" pitchFamily="34" charset="-122"/>
                <a:cs typeface="Calibri" pitchFamily="34" charset="-120"/>
              </a:rPr>
              <a:t>Nadella, FY26 Q2 earnings call</a:t>
            </a:r>
            <a:endParaRPr lang="en-US" sz="1050" dirty="0"/>
          </a:p>
        </p:txBody>
      </p:sp>
      <p:sp>
        <p:nvSpPr>
          <p:cNvPr id="16" name="Shape 12"/>
          <p:cNvSpPr/>
          <p:nvPr/>
        </p:nvSpPr>
        <p:spPr>
          <a:xfrm>
            <a:off x="6437376" y="1965960"/>
            <a:ext cx="2651760" cy="3566160"/>
          </a:xfrm>
          <a:prstGeom prst="roundRect">
            <a:avLst>
              <a:gd name="adj" fmla="val 3103"/>
            </a:avLst>
          </a:prstGeom>
          <a:solidFill>
            <a:srgbClr val="1A1D29"/>
          </a:solidFill>
          <a:ln/>
          <a:effectLst>
            <a:outerShdw sx="100000" sy="100000" kx="0" ky="0" algn="bl" rotWithShape="0" blurRad="114300" dist="38100" dir="2700000">
              <a:srgbClr val="000000">
                <a:alpha val="20000"/>
              </a:srgbClr>
            </a:outerShdw>
          </a:effectLst>
        </p:spPr>
      </p:sp>
      <p:sp>
        <p:nvSpPr>
          <p:cNvPr id="17" name="Shape 13"/>
          <p:cNvSpPr/>
          <p:nvPr/>
        </p:nvSpPr>
        <p:spPr>
          <a:xfrm>
            <a:off x="6729984" y="2258568"/>
            <a:ext cx="548640" cy="548640"/>
          </a:xfrm>
          <a:prstGeom prst="ellipse">
            <a:avLst/>
          </a:prstGeom>
          <a:solidFill>
            <a:srgbClr val="7DF9C1"/>
          </a:solidFill>
          <a:ln/>
        </p:spPr>
      </p:sp>
      <p:pic>
        <p:nvPicPr>
          <p:cNvPr id="18" name="Image 2" descr="icons/trendup_white.png">    </p:cNvPr>
          <p:cNvPicPr>
            <a:picLocks noChangeAspect="1"/>
          </p:cNvPicPr>
          <p:nvPr/>
        </p:nvPicPr>
        <p:blipFill>
          <a:blip r:embed="rId3"/>
          <a:stretch>
            <a:fillRect/>
          </a:stretch>
        </p:blipFill>
        <p:spPr>
          <a:xfrm>
            <a:off x="6817766" y="2346350"/>
            <a:ext cx="373075" cy="373075"/>
          </a:xfrm>
          <a:prstGeom prst="rect">
            <a:avLst/>
          </a:prstGeom>
        </p:spPr>
      </p:pic>
      <p:sp>
        <p:nvSpPr>
          <p:cNvPr id="19" name="Text 14"/>
          <p:cNvSpPr/>
          <p:nvPr/>
        </p:nvSpPr>
        <p:spPr>
          <a:xfrm>
            <a:off x="6665976" y="3017520"/>
            <a:ext cx="219456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$2B</a:t>
            </a:r>
            <a:endParaRPr lang="en-US" sz="3800" dirty="0"/>
          </a:p>
        </p:txBody>
      </p:sp>
      <p:sp>
        <p:nvSpPr>
          <p:cNvPr id="20" name="Text 15"/>
          <p:cNvSpPr/>
          <p:nvPr/>
        </p:nvSpPr>
        <p:spPr>
          <a:xfrm>
            <a:off x="6665976" y="3904488"/>
            <a:ext cx="2194560" cy="777240"/>
          </a:xfrm>
          <a:prstGeom prst="rect">
            <a:avLst/>
          </a:prstGeom>
          <a:noFill/>
          <a:ln/>
        </p:spPr>
        <p:txBody>
          <a:bodyPr wrap="square" lIns="0" tIns="0" rIns="0" bIns="0" rtlCol="0" anchor="ctr"/>
          <a:lstStyle/>
          <a:p>
            <a:pPr indent="0" marL="0">
              <a:lnSpc>
                <a:spcPct val="115000"/>
              </a:lnSpc>
              <a:buNone/>
            </a:pPr>
            <a:r>
              <a:rPr lang="en-US" sz="1350" b="1" dirty="0">
                <a:solidFill>
                  <a:srgbClr val="EDEFF7"/>
                </a:solidFill>
                <a:latin typeface="Calibri" pitchFamily="34" charset="0"/>
                <a:ea typeface="Calibri" pitchFamily="34" charset="-122"/>
                <a:cs typeface="Calibri" pitchFamily="34" charset="-120"/>
              </a:rPr>
              <a:t>Cursor's ARR by Feb 2026</a:t>
            </a:r>
            <a:endParaRPr lang="en-US" sz="1350" dirty="0"/>
          </a:p>
        </p:txBody>
      </p:sp>
      <p:sp>
        <p:nvSpPr>
          <p:cNvPr id="21" name="Text 16"/>
          <p:cNvSpPr/>
          <p:nvPr/>
        </p:nvSpPr>
        <p:spPr>
          <a:xfrm>
            <a:off x="6665976" y="4965192"/>
            <a:ext cx="2194560" cy="457200"/>
          </a:xfrm>
          <a:prstGeom prst="rect">
            <a:avLst/>
          </a:prstGeom>
          <a:noFill/>
          <a:ln/>
        </p:spPr>
        <p:txBody>
          <a:bodyPr wrap="square" lIns="0" tIns="0" rIns="0" bIns="0" rtlCol="0" anchor="ctr"/>
          <a:lstStyle/>
          <a:p>
            <a:pPr indent="0" marL="0">
              <a:lnSpc>
                <a:spcPct val="110000"/>
              </a:lnSpc>
              <a:buNone/>
            </a:pPr>
            <a:r>
              <a:rPr lang="en-US" sz="1050" i="1" dirty="0">
                <a:solidFill>
                  <a:srgbClr val="9298AC"/>
                </a:solidFill>
                <a:latin typeface="Calibri" pitchFamily="34" charset="0"/>
                <a:ea typeface="Calibri" pitchFamily="34" charset="-122"/>
                <a:cs typeface="Calibri" pitchFamily="34" charset="-120"/>
              </a:rPr>
              <a:t>from $100M in 2024 — fastest SaaS climb on record</a:t>
            </a:r>
            <a:endParaRPr lang="en-US" sz="1050" dirty="0"/>
          </a:p>
        </p:txBody>
      </p:sp>
      <p:sp>
        <p:nvSpPr>
          <p:cNvPr id="22" name="Shape 17"/>
          <p:cNvSpPr/>
          <p:nvPr/>
        </p:nvSpPr>
        <p:spPr>
          <a:xfrm>
            <a:off x="9336024" y="1965960"/>
            <a:ext cx="2651760" cy="3566160"/>
          </a:xfrm>
          <a:prstGeom prst="roundRect">
            <a:avLst>
              <a:gd name="adj" fmla="val 3103"/>
            </a:avLst>
          </a:prstGeom>
          <a:solidFill>
            <a:srgbClr val="1A1D29"/>
          </a:solidFill>
          <a:ln/>
          <a:effectLst>
            <a:outerShdw sx="100000" sy="100000" kx="0" ky="0" algn="bl" rotWithShape="0" blurRad="114300" dist="38100" dir="2700000">
              <a:srgbClr val="000000">
                <a:alpha val="20000"/>
              </a:srgbClr>
            </a:outerShdw>
          </a:effectLst>
        </p:spPr>
      </p:sp>
      <p:sp>
        <p:nvSpPr>
          <p:cNvPr id="23" name="Shape 18"/>
          <p:cNvSpPr/>
          <p:nvPr/>
        </p:nvSpPr>
        <p:spPr>
          <a:xfrm>
            <a:off x="9628632" y="2258568"/>
            <a:ext cx="548640" cy="548640"/>
          </a:xfrm>
          <a:prstGeom prst="ellipse">
            <a:avLst/>
          </a:prstGeom>
          <a:solidFill>
            <a:srgbClr val="8B7CF6"/>
          </a:solidFill>
          <a:ln/>
        </p:spPr>
      </p:sp>
      <p:pic>
        <p:nvPicPr>
          <p:cNvPr id="24" name="Image 3" descr="icons/check_white.png">    </p:cNvPr>
          <p:cNvPicPr>
            <a:picLocks noChangeAspect="1"/>
          </p:cNvPicPr>
          <p:nvPr/>
        </p:nvPicPr>
        <p:blipFill>
          <a:blip r:embed="rId4"/>
          <a:stretch>
            <a:fillRect/>
          </a:stretch>
        </p:blipFill>
        <p:spPr>
          <a:xfrm>
            <a:off x="9716414" y="2346350"/>
            <a:ext cx="373075" cy="373075"/>
          </a:xfrm>
          <a:prstGeom prst="rect">
            <a:avLst/>
          </a:prstGeom>
        </p:spPr>
      </p:pic>
      <p:sp>
        <p:nvSpPr>
          <p:cNvPr id="25" name="Text 19"/>
          <p:cNvSpPr/>
          <p:nvPr/>
        </p:nvSpPr>
        <p:spPr>
          <a:xfrm>
            <a:off x="9564624" y="3017520"/>
            <a:ext cx="219456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91%</a:t>
            </a:r>
            <a:endParaRPr lang="en-US" sz="3800" dirty="0"/>
          </a:p>
        </p:txBody>
      </p:sp>
      <p:sp>
        <p:nvSpPr>
          <p:cNvPr id="26" name="Text 20"/>
          <p:cNvSpPr/>
          <p:nvPr/>
        </p:nvSpPr>
        <p:spPr>
          <a:xfrm>
            <a:off x="9564624" y="3904488"/>
            <a:ext cx="2194560" cy="777240"/>
          </a:xfrm>
          <a:prstGeom prst="rect">
            <a:avLst/>
          </a:prstGeom>
          <a:noFill/>
          <a:ln/>
        </p:spPr>
        <p:txBody>
          <a:bodyPr wrap="square" lIns="0" tIns="0" rIns="0" bIns="0" rtlCol="0" anchor="ctr"/>
          <a:lstStyle/>
          <a:p>
            <a:pPr indent="0" marL="0">
              <a:lnSpc>
                <a:spcPct val="115000"/>
              </a:lnSpc>
              <a:buNone/>
            </a:pPr>
            <a:r>
              <a:rPr lang="en-US" sz="1350" b="1" dirty="0">
                <a:solidFill>
                  <a:srgbClr val="EDEFF7"/>
                </a:solidFill>
                <a:latin typeface="Calibri" pitchFamily="34" charset="0"/>
                <a:ea typeface="Calibri" pitchFamily="34" charset="-122"/>
                <a:cs typeface="Calibri" pitchFamily="34" charset="-120"/>
              </a:rPr>
              <a:t>Claude Code satisfaction (CSAT)</a:t>
            </a:r>
            <a:endParaRPr lang="en-US" sz="1350" dirty="0"/>
          </a:p>
        </p:txBody>
      </p:sp>
      <p:sp>
        <p:nvSpPr>
          <p:cNvPr id="27" name="Text 21"/>
          <p:cNvSpPr/>
          <p:nvPr/>
        </p:nvSpPr>
        <p:spPr>
          <a:xfrm>
            <a:off x="9564624" y="4965192"/>
            <a:ext cx="2194560" cy="457200"/>
          </a:xfrm>
          <a:prstGeom prst="rect">
            <a:avLst/>
          </a:prstGeom>
          <a:noFill/>
          <a:ln/>
        </p:spPr>
        <p:txBody>
          <a:bodyPr wrap="square" lIns="0" tIns="0" rIns="0" bIns="0" rtlCol="0" anchor="ctr"/>
          <a:lstStyle/>
          <a:p>
            <a:pPr indent="0" marL="0">
              <a:lnSpc>
                <a:spcPct val="110000"/>
              </a:lnSpc>
              <a:buNone/>
            </a:pPr>
            <a:r>
              <a:rPr lang="en-US" sz="1050" i="1" dirty="0">
                <a:solidFill>
                  <a:srgbClr val="9298AC"/>
                </a:solidFill>
                <a:latin typeface="Calibri" pitchFamily="34" charset="0"/>
                <a:ea typeface="Calibri" pitchFamily="34" charset="-122"/>
                <a:cs typeface="Calibri" pitchFamily="34" charset="-120"/>
              </a:rPr>
              <a:t>highest of any AI coding tool surveyed</a:t>
            </a:r>
            <a:endParaRPr lang="en-US" sz="1050" dirty="0"/>
          </a:p>
        </p:txBody>
      </p:sp>
      <p:sp>
        <p:nvSpPr>
          <p:cNvPr id="28" name="Text 22"/>
          <p:cNvSpPr/>
          <p:nvPr/>
        </p:nvSpPr>
        <p:spPr>
          <a:xfrm>
            <a:off x="11414455" y="6400800"/>
            <a:ext cx="548640" cy="274320"/>
          </a:xfrm>
          <a:prstGeom prst="rect">
            <a:avLst/>
          </a:prstGeom>
          <a:noFill/>
          <a:ln/>
        </p:spPr>
        <p:txBody>
          <a:bodyPr wrap="square" lIns="0" tIns="0" rIns="0" bIns="0" rtlCol="0" anchor="ctr"/>
          <a:lstStyle/>
          <a:p>
            <a:pPr algn="r" indent="0" marL="0">
              <a:buNone/>
            </a:pPr>
            <a:r>
              <a:rPr lang="en-US" sz="1000" dirty="0">
                <a:solidFill>
                  <a:srgbClr val="9298AC"/>
                </a:solidFill>
                <a:latin typeface="Courier New" pitchFamily="34" charset="0"/>
                <a:ea typeface="Courier New" pitchFamily="34" charset="-122"/>
                <a:cs typeface="Courier New"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315200" cy="365760"/>
          </a:xfrm>
          <a:prstGeom prst="rect">
            <a:avLst/>
          </a:prstGeom>
          <a:noFill/>
          <a:ln/>
        </p:spPr>
        <p:txBody>
          <a:bodyPr wrap="square" lIns="0" tIns="0" rIns="0" bIns="0" rtlCol="0" anchor="ctr"/>
          <a:lstStyle/>
          <a:p>
            <a:pPr indent="0" marL="0">
              <a:buNone/>
            </a:pPr>
            <a:r>
              <a:rPr lang="en-US" sz="1250" b="1" spc="300" kern="0" dirty="0">
                <a:solidFill>
                  <a:srgbClr val="2BB897"/>
                </a:solidFill>
                <a:latin typeface="Courier New" pitchFamily="34" charset="0"/>
                <a:ea typeface="Courier New" pitchFamily="34" charset="-122"/>
                <a:cs typeface="Courier New" pitchFamily="34" charset="-120"/>
              </a:rPr>
              <a:t>THE PRODUCTIVITY REALITY</a:t>
            </a:r>
            <a:endParaRPr lang="en-US" sz="1250" dirty="0"/>
          </a:p>
        </p:txBody>
      </p:sp>
      <p:sp>
        <p:nvSpPr>
          <p:cNvPr id="3" name="Text 1"/>
          <p:cNvSpPr/>
          <p:nvPr/>
        </p:nvSpPr>
        <p:spPr>
          <a:xfrm>
            <a:off x="640080" y="914400"/>
            <a:ext cx="10789920" cy="777240"/>
          </a:xfrm>
          <a:prstGeom prst="rect">
            <a:avLst/>
          </a:prstGeom>
          <a:noFill/>
          <a:ln/>
        </p:spPr>
        <p:txBody>
          <a:bodyPr wrap="square" lIns="0" tIns="0" rIns="0" bIns="0" rtlCol="0" anchor="ctr"/>
          <a:lstStyle/>
          <a:p>
            <a:pPr indent="0" marL="0">
              <a:buNone/>
            </a:pPr>
            <a:r>
              <a:rPr lang="en-US" sz="3000" b="1" dirty="0">
                <a:solidFill>
                  <a:srgbClr val="1A1D29"/>
                </a:solidFill>
                <a:latin typeface="Cambria" pitchFamily="34" charset="0"/>
                <a:ea typeface="Cambria" pitchFamily="34" charset="-122"/>
                <a:cs typeface="Cambria" pitchFamily="34" charset="-120"/>
              </a:rPr>
              <a:t>Real gains — not the 10x miracle.</a:t>
            </a:r>
            <a:endParaRPr lang="en-US" sz="3000" dirty="0"/>
          </a:p>
        </p:txBody>
      </p:sp>
      <p:graphicFrame>
        <p:nvGraphicFramePr>
          <p:cNvPr id="4" name="Chart 0" descr=""/>
          <p:cNvGraphicFramePr/>
          <p:nvPr/>
        </p:nvGraphicFramePr>
        <p:xfrm>
          <a:off x="640080" y="1828800"/>
          <a:ext cx="5943600" cy="37490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903720" y="1828800"/>
            <a:ext cx="4663440" cy="1783080"/>
          </a:xfrm>
          <a:prstGeom prst="roundRect">
            <a:avLst>
              <a:gd name="adj" fmla="val 4615"/>
            </a:avLst>
          </a:prstGeom>
          <a:solidFill>
            <a:srgbClr val="F5F6FA"/>
          </a:solidFill>
          <a:ln/>
          <a:effectLst>
            <a:outerShdw sx="100000" sy="100000" kx="0" ky="0" algn="bl" rotWithShape="0" blurRad="101600" dist="38100" dir="2700000">
              <a:srgbClr val="000000">
                <a:alpha val="8000"/>
              </a:srgbClr>
            </a:outerShdw>
          </a:effectLst>
        </p:spPr>
      </p:sp>
      <p:sp>
        <p:nvSpPr>
          <p:cNvPr id="6" name="Text 3"/>
          <p:cNvSpPr/>
          <p:nvPr/>
        </p:nvSpPr>
        <p:spPr>
          <a:xfrm>
            <a:off x="7223760" y="2011680"/>
            <a:ext cx="4023360" cy="320040"/>
          </a:xfrm>
          <a:prstGeom prst="rect">
            <a:avLst/>
          </a:prstGeom>
          <a:noFill/>
          <a:ln/>
        </p:spPr>
        <p:txBody>
          <a:bodyPr wrap="square" lIns="0" tIns="0" rIns="0" bIns="0" rtlCol="0" anchor="ctr"/>
          <a:lstStyle/>
          <a:p>
            <a:pPr indent="0" marL="0">
              <a:buNone/>
            </a:pPr>
            <a:r>
              <a:rPr lang="en-US" sz="1100" b="1" spc="150" kern="0" dirty="0">
                <a:solidFill>
                  <a:srgbClr val="2BB897"/>
                </a:solidFill>
                <a:latin typeface="Courier New" pitchFamily="34" charset="0"/>
                <a:ea typeface="Courier New" pitchFamily="34" charset="-122"/>
                <a:cs typeface="Courier New" pitchFamily="34" charset="-120"/>
              </a:rPr>
              <a:t>DORA 2024: A SPLIT EFFECT</a:t>
            </a:r>
            <a:endParaRPr lang="en-US" sz="1100" dirty="0"/>
          </a:p>
        </p:txBody>
      </p:sp>
      <p:sp>
        <p:nvSpPr>
          <p:cNvPr id="7" name="Text 4"/>
          <p:cNvSpPr/>
          <p:nvPr/>
        </p:nvSpPr>
        <p:spPr>
          <a:xfrm>
            <a:off x="7223760" y="2359152"/>
            <a:ext cx="4023360" cy="365760"/>
          </a:xfrm>
          <a:prstGeom prst="rect">
            <a:avLst/>
          </a:prstGeom>
          <a:noFill/>
          <a:ln/>
        </p:spPr>
        <p:txBody>
          <a:bodyPr wrap="square" lIns="0" tIns="0" rIns="0" bIns="0" rtlCol="0" anchor="ctr"/>
          <a:lstStyle/>
          <a:p>
            <a:pPr indent="0" marL="0">
              <a:buNone/>
            </a:pPr>
            <a:r>
              <a:rPr lang="en-US" sz="1300" b="1" dirty="0">
                <a:solidFill>
                  <a:srgbClr val="1A1D29"/>
                </a:solidFill>
                <a:latin typeface="Calibri" pitchFamily="34" charset="0"/>
                <a:ea typeface="Calibri" pitchFamily="34" charset="-122"/>
                <a:cs typeface="Calibri" pitchFamily="34" charset="-120"/>
              </a:rPr>
              <a:t>Individual </a:t>
            </a:r>
            <a:pPr indent="0" marL="0">
              <a:buNone/>
            </a:pPr>
            <a:r>
              <a:rPr lang="en-US" sz="1300" dirty="0">
                <a:solidFill>
                  <a:srgbClr val="4A4F66"/>
                </a:solidFill>
                <a:latin typeface="Calibri" pitchFamily="34" charset="0"/>
                <a:ea typeface="Calibri" pitchFamily="34" charset="-122"/>
                <a:cs typeface="Calibri" pitchFamily="34" charset="-120"/>
              </a:rPr>
              <a:t>productivity, flow &amp; satisfaction ↑</a:t>
            </a:r>
            <a:endParaRPr lang="en-US" sz="1300" dirty="0"/>
          </a:p>
        </p:txBody>
      </p:sp>
      <p:sp>
        <p:nvSpPr>
          <p:cNvPr id="8" name="Text 5"/>
          <p:cNvSpPr/>
          <p:nvPr/>
        </p:nvSpPr>
        <p:spPr>
          <a:xfrm>
            <a:off x="7223760" y="2724912"/>
            <a:ext cx="4023360" cy="365760"/>
          </a:xfrm>
          <a:prstGeom prst="rect">
            <a:avLst/>
          </a:prstGeom>
          <a:noFill/>
          <a:ln/>
        </p:spPr>
        <p:txBody>
          <a:bodyPr wrap="square" lIns="0" tIns="0" rIns="0" bIns="0" rtlCol="0" anchor="ctr"/>
          <a:lstStyle/>
          <a:p>
            <a:pPr indent="0" marL="0">
              <a:buNone/>
            </a:pPr>
            <a:r>
              <a:rPr lang="en-US" sz="1300" b="1" dirty="0">
                <a:solidFill>
                  <a:srgbClr val="1A1D29"/>
                </a:solidFill>
                <a:latin typeface="Calibri" pitchFamily="34" charset="0"/>
                <a:ea typeface="Calibri" pitchFamily="34" charset="-122"/>
                <a:cs typeface="Calibri" pitchFamily="34" charset="-120"/>
              </a:rPr>
              <a:t>Team delivery </a:t>
            </a:r>
            <a:pPr indent="0" marL="0">
              <a:buNone/>
            </a:pPr>
            <a:r>
              <a:rPr lang="en-US" sz="1300" dirty="0">
                <a:solidFill>
                  <a:srgbClr val="4A4F66"/>
                </a:solidFill>
                <a:latin typeface="Calibri" pitchFamily="34" charset="0"/>
                <a:ea typeface="Calibri" pitchFamily="34" charset="-122"/>
                <a:cs typeface="Calibri" pitchFamily="34" charset="-120"/>
              </a:rPr>
              <a:t>stability &amp; throughput ↓</a:t>
            </a:r>
            <a:endParaRPr lang="en-US" sz="1300" dirty="0"/>
          </a:p>
        </p:txBody>
      </p:sp>
      <p:sp>
        <p:nvSpPr>
          <p:cNvPr id="9" name="Text 6"/>
          <p:cNvSpPr/>
          <p:nvPr/>
        </p:nvSpPr>
        <p:spPr>
          <a:xfrm>
            <a:off x="7223760" y="3108960"/>
            <a:ext cx="4023360" cy="457200"/>
          </a:xfrm>
          <a:prstGeom prst="rect">
            <a:avLst/>
          </a:prstGeom>
          <a:noFill/>
          <a:ln/>
        </p:spPr>
        <p:txBody>
          <a:bodyPr wrap="square" lIns="0" tIns="0" rIns="0" bIns="0" rtlCol="0" anchor="ctr"/>
          <a:lstStyle/>
          <a:p>
            <a:pPr indent="0" marL="0">
              <a:lnSpc>
                <a:spcPct val="115000"/>
              </a:lnSpc>
              <a:buNone/>
            </a:pPr>
            <a:r>
              <a:rPr lang="en-US" sz="1100" i="1" dirty="0">
                <a:solidFill>
                  <a:srgbClr val="4A4F66"/>
                </a:solidFill>
                <a:latin typeface="Calibri" pitchFamily="34" charset="0"/>
                <a:ea typeface="Calibri" pitchFamily="34" charset="-122"/>
                <a:cs typeface="Calibri" pitchFamily="34" charset="-120"/>
              </a:rPr>
              <a:t>Going faster individually doesn’t always mean shipping more reliably as a team.</a:t>
            </a:r>
            <a:endParaRPr lang="en-US" sz="1100" dirty="0"/>
          </a:p>
        </p:txBody>
      </p:sp>
      <p:sp>
        <p:nvSpPr>
          <p:cNvPr id="10" name="Shape 7"/>
          <p:cNvSpPr/>
          <p:nvPr/>
        </p:nvSpPr>
        <p:spPr>
          <a:xfrm>
            <a:off x="6903720" y="3794760"/>
            <a:ext cx="4663440" cy="1783080"/>
          </a:xfrm>
          <a:prstGeom prst="roundRect">
            <a:avLst>
              <a:gd name="adj" fmla="val 4615"/>
            </a:avLst>
          </a:prstGeom>
          <a:solidFill>
            <a:srgbClr val="12141C"/>
          </a:solidFill>
          <a:ln/>
          <a:effectLst>
            <a:outerShdw sx="100000" sy="100000" kx="0" ky="0" algn="bl" rotWithShape="0" blurRad="101600" dist="38100" dir="2700000">
              <a:srgbClr val="000000">
                <a:alpha val="15000"/>
              </a:srgbClr>
            </a:outerShdw>
          </a:effectLst>
        </p:spPr>
      </p:sp>
      <p:sp>
        <p:nvSpPr>
          <p:cNvPr id="11" name="Text 8"/>
          <p:cNvSpPr/>
          <p:nvPr/>
        </p:nvSpPr>
        <p:spPr>
          <a:xfrm>
            <a:off x="7223760" y="3950208"/>
            <a:ext cx="1828800" cy="868680"/>
          </a:xfrm>
          <a:prstGeom prst="rect">
            <a:avLst/>
          </a:prstGeom>
          <a:noFill/>
          <a:ln/>
        </p:spPr>
        <p:txBody>
          <a:bodyPr wrap="square" lIns="0" tIns="0" rIns="0" bIns="0" rtlCol="0" anchor="ctr"/>
          <a:lstStyle/>
          <a:p>
            <a:pPr indent="0" marL="0">
              <a:buNone/>
            </a:pPr>
            <a:r>
              <a:rPr lang="en-US" sz="4200" b="1" dirty="0">
                <a:solidFill>
                  <a:srgbClr val="FF6F61"/>
                </a:solidFill>
                <a:latin typeface="Cambria" pitchFamily="34" charset="0"/>
                <a:ea typeface="Cambria" pitchFamily="34" charset="-122"/>
                <a:cs typeface="Cambria" pitchFamily="34" charset="-120"/>
              </a:rPr>
              <a:t>29%</a:t>
            </a:r>
            <a:endParaRPr lang="en-US" sz="4200" dirty="0"/>
          </a:p>
        </p:txBody>
      </p:sp>
      <p:sp>
        <p:nvSpPr>
          <p:cNvPr id="12" name="Text 9"/>
          <p:cNvSpPr/>
          <p:nvPr/>
        </p:nvSpPr>
        <p:spPr>
          <a:xfrm>
            <a:off x="7223760" y="4773168"/>
            <a:ext cx="4023360" cy="502920"/>
          </a:xfrm>
          <a:prstGeom prst="rect">
            <a:avLst/>
          </a:prstGeom>
          <a:noFill/>
          <a:ln/>
        </p:spPr>
        <p:txBody>
          <a:bodyPr wrap="square" lIns="0" tIns="0" rIns="0" bIns="0" rtlCol="0" anchor="ctr"/>
          <a:lstStyle/>
          <a:p>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trust AI-generated</a:t>
            </a:r>
            <a:endParaRPr lang="en-US" sz="1250" dirty="0"/>
          </a:p>
          <a:p>
            <a:pPr indent="0" marL="0">
              <a:lnSpc>
                <a:spcPct val="110000"/>
              </a:lnSpc>
              <a:buNone/>
            </a:pPr>
            <a:r>
              <a:rPr lang="en-US" sz="1250" b="1" dirty="0">
                <a:solidFill>
                  <a:srgbClr val="FFFFFF"/>
                </a:solidFill>
                <a:latin typeface="Calibri" pitchFamily="34" charset="0"/>
                <a:ea typeface="Calibri" pitchFamily="34" charset="-122"/>
                <a:cs typeface="Calibri" pitchFamily="34" charset="-120"/>
              </a:rPr>
              <a:t>code output</a:t>
            </a:r>
            <a:endParaRPr lang="en-US" sz="1250" dirty="0"/>
          </a:p>
        </p:txBody>
      </p:sp>
      <p:sp>
        <p:nvSpPr>
          <p:cNvPr id="13" name="Text 10"/>
          <p:cNvSpPr/>
          <p:nvPr/>
        </p:nvSpPr>
        <p:spPr>
          <a:xfrm>
            <a:off x="7223760" y="5257800"/>
            <a:ext cx="4023360" cy="274320"/>
          </a:xfrm>
          <a:prstGeom prst="rect">
            <a:avLst/>
          </a:prstGeom>
          <a:noFill/>
          <a:ln/>
        </p:spPr>
        <p:txBody>
          <a:bodyPr wrap="square" lIns="0" tIns="0" rIns="0" bIns="0" rtlCol="0" anchor="ctr"/>
          <a:lstStyle/>
          <a:p>
            <a:pPr indent="0" marL="0">
              <a:buNone/>
            </a:pPr>
            <a:r>
              <a:rPr lang="en-US" sz="1050" i="1" dirty="0">
                <a:solidFill>
                  <a:srgbClr val="9298AC"/>
                </a:solidFill>
                <a:latin typeface="Calibri" pitchFamily="34" charset="0"/>
                <a:ea typeface="Calibri" pitchFamily="34" charset="-122"/>
                <a:cs typeface="Calibri" pitchFamily="34" charset="-120"/>
              </a:rPr>
              <a:t>down from 40% in 2024 — even as usage keeps climbing</a:t>
            </a:r>
            <a:endParaRPr lang="en-US" sz="1050" dirty="0"/>
          </a:p>
        </p:txBody>
      </p:sp>
      <p:sp>
        <p:nvSpPr>
          <p:cNvPr id="14" name="Text 11"/>
          <p:cNvSpPr/>
          <p:nvPr/>
        </p:nvSpPr>
        <p:spPr>
          <a:xfrm>
            <a:off x="11414455" y="6400800"/>
            <a:ext cx="548640" cy="274320"/>
          </a:xfrm>
          <a:prstGeom prst="rect">
            <a:avLst/>
          </a:prstGeom>
          <a:noFill/>
          <a:ln/>
        </p:spPr>
        <p:txBody>
          <a:bodyPr wrap="square" lIns="0" tIns="0" rIns="0" bIns="0" rtlCol="0" anchor="ctr"/>
          <a:lstStyle/>
          <a:p>
            <a:pPr algn="r" indent="0" marL="0">
              <a:buNone/>
            </a:pPr>
            <a:r>
              <a:rPr lang="en-US" sz="1000" dirty="0">
                <a:solidFill>
                  <a:srgbClr val="4A4F66"/>
                </a:solidFill>
                <a:latin typeface="Courier New" pitchFamily="34" charset="0"/>
                <a:ea typeface="Courier New" pitchFamily="34" charset="-122"/>
                <a:cs typeface="Courier New"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822960" y="2103120"/>
            <a:ext cx="9144000" cy="365760"/>
          </a:xfrm>
          <a:prstGeom prst="rect">
            <a:avLst/>
          </a:prstGeom>
          <a:noFill/>
          <a:ln/>
        </p:spPr>
        <p:txBody>
          <a:bodyPr wrap="square" lIns="0" tIns="0" rIns="0" bIns="0" rtlCol="0" anchor="ctr"/>
          <a:lstStyle/>
          <a:p>
            <a:pPr indent="0" marL="0">
              <a:buNone/>
            </a:pPr>
            <a:r>
              <a:rPr lang="en-US" sz="1400" dirty="0">
                <a:solidFill>
                  <a:srgbClr val="9298AC"/>
                </a:solidFill>
                <a:latin typeface="Courier New" pitchFamily="34" charset="0"/>
                <a:ea typeface="Courier New" pitchFamily="34" charset="-122"/>
                <a:cs typeface="Courier New" pitchFamily="34" charset="-120"/>
              </a:rPr>
              <a:t>$ git log --topic=junior-hiring</a:t>
            </a:r>
            <a:endParaRPr lang="en-US" sz="1400" dirty="0"/>
          </a:p>
        </p:txBody>
      </p:sp>
      <p:sp>
        <p:nvSpPr>
          <p:cNvPr id="3" name="Text 1"/>
          <p:cNvSpPr/>
          <p:nvPr/>
        </p:nvSpPr>
        <p:spPr>
          <a:xfrm>
            <a:off x="822960" y="2514600"/>
            <a:ext cx="10332720" cy="1828800"/>
          </a:xfrm>
          <a:prstGeom prst="rect">
            <a:avLst/>
          </a:prstGeom>
          <a:noFill/>
          <a:ln/>
        </p:spPr>
        <p:txBody>
          <a:bodyPr wrap="square" lIns="0" tIns="0" rIns="0" bIns="0" rtlCol="0" anchor="ctr"/>
          <a:lstStyle/>
          <a:p>
            <a:pPr indent="0" marL="0">
              <a:lnSpc>
                <a:spcPct val="108000"/>
              </a:lnSpc>
              <a:buNone/>
            </a:pPr>
            <a:r>
              <a:rPr lang="en-US" sz="4200" b="1" dirty="0">
                <a:solidFill>
                  <a:srgbClr val="FFFFFF"/>
                </a:solidFill>
                <a:latin typeface="Cambria" pitchFamily="34" charset="0"/>
                <a:ea typeface="Cambria" pitchFamily="34" charset="-122"/>
                <a:cs typeface="Cambria" pitchFamily="34" charset="-120"/>
              </a:rPr>
              <a:t>The Controversy:</a:t>
            </a:r>
            <a:endParaRPr lang="en-US" sz="4200" dirty="0"/>
          </a:p>
          <a:p>
            <a:pPr indent="0" marL="0">
              <a:lnSpc>
                <a:spcPct val="108000"/>
              </a:lnSpc>
              <a:buNone/>
            </a:pPr>
            <a:r>
              <a:rPr lang="en-US" sz="4200" b="1" dirty="0">
                <a:solidFill>
                  <a:srgbClr val="FFFFFF"/>
                </a:solidFill>
                <a:latin typeface="Cambria" pitchFamily="34" charset="0"/>
                <a:ea typeface="Cambria" pitchFamily="34" charset="-122"/>
                <a:cs typeface="Cambria" pitchFamily="34" charset="-120"/>
              </a:rPr>
              <a:t>What's happening to </a:t>
            </a:r>
            <a:pPr indent="0" marL="0">
              <a:lnSpc>
                <a:spcPct val="108000"/>
              </a:lnSpc>
              <a:buNone/>
            </a:pPr>
            <a:r>
              <a:rPr lang="en-US" sz="4200" b="1" dirty="0">
                <a:solidFill>
                  <a:srgbClr val="FF6F61"/>
                </a:solidFill>
                <a:latin typeface="Cambria" pitchFamily="34" charset="0"/>
                <a:ea typeface="Cambria" pitchFamily="34" charset="-122"/>
                <a:cs typeface="Cambria" pitchFamily="34" charset="-120"/>
              </a:rPr>
              <a:t>junior jobs?</a:t>
            </a:r>
            <a:endParaRPr lang="en-US" sz="4200" dirty="0"/>
          </a:p>
        </p:txBody>
      </p:sp>
      <p:sp>
        <p:nvSpPr>
          <p:cNvPr id="4" name="Text 2"/>
          <p:cNvSpPr/>
          <p:nvPr/>
        </p:nvSpPr>
        <p:spPr>
          <a:xfrm>
            <a:off x="822960" y="4251960"/>
            <a:ext cx="8229600" cy="457200"/>
          </a:xfrm>
          <a:prstGeom prst="rect">
            <a:avLst/>
          </a:prstGeom>
          <a:noFill/>
          <a:ln/>
        </p:spPr>
        <p:txBody>
          <a:bodyPr wrap="square" lIns="0" tIns="0" rIns="0" bIns="0" rtlCol="0" anchor="ctr"/>
          <a:lstStyle/>
          <a:p>
            <a:pPr indent="0" marL="0">
              <a:buNone/>
            </a:pPr>
            <a:r>
              <a:rPr lang="en-US" sz="1600" i="1" dirty="0">
                <a:solidFill>
                  <a:srgbClr val="9298AC"/>
                </a:solidFill>
                <a:latin typeface="Calibri" pitchFamily="34" charset="0"/>
                <a:ea typeface="Calibri" pitchFamily="34" charset="-122"/>
                <a:cs typeface="Calibri" pitchFamily="34" charset="-120"/>
              </a:rPr>
              <a:t>A live, unresolved argument splitting the entire tech industry.</a:t>
            </a:r>
            <a:endParaRPr lang="en-US" sz="1600" dirty="0"/>
          </a:p>
        </p:txBody>
      </p:sp>
      <p:sp>
        <p:nvSpPr>
          <p:cNvPr id="5" name="Shape 3"/>
          <p:cNvSpPr/>
          <p:nvPr/>
        </p:nvSpPr>
        <p:spPr>
          <a:xfrm>
            <a:off x="822960" y="4937760"/>
            <a:ext cx="82296" cy="82296"/>
          </a:xfrm>
          <a:prstGeom prst="ellipse">
            <a:avLst/>
          </a:prstGeom>
          <a:solidFill>
            <a:srgbClr val="FF6F61"/>
          </a:solidFill>
          <a:ln/>
        </p:spPr>
      </p:sp>
      <p:sp>
        <p:nvSpPr>
          <p:cNvPr id="6" name="Shape 4"/>
          <p:cNvSpPr/>
          <p:nvPr/>
        </p:nvSpPr>
        <p:spPr>
          <a:xfrm>
            <a:off x="987552" y="4937760"/>
            <a:ext cx="82296" cy="82296"/>
          </a:xfrm>
          <a:prstGeom prst="ellipse">
            <a:avLst/>
          </a:prstGeom>
          <a:solidFill>
            <a:srgbClr val="8B7CF6"/>
          </a:solidFill>
          <a:ln/>
        </p:spPr>
      </p:sp>
      <p:sp>
        <p:nvSpPr>
          <p:cNvPr id="7" name="Shape 5"/>
          <p:cNvSpPr/>
          <p:nvPr/>
        </p:nvSpPr>
        <p:spPr>
          <a:xfrm>
            <a:off x="1152144" y="4937760"/>
            <a:ext cx="82296" cy="82296"/>
          </a:xfrm>
          <a:prstGeom prst="ellipse">
            <a:avLst/>
          </a:prstGeom>
          <a:solidFill>
            <a:srgbClr val="7DF9C1"/>
          </a:solidFill>
          <a:ln/>
        </p:spPr>
      </p:sp>
      <p:sp>
        <p:nvSpPr>
          <p:cNvPr id="8" name="Text 6"/>
          <p:cNvSpPr/>
          <p:nvPr/>
        </p:nvSpPr>
        <p:spPr>
          <a:xfrm>
            <a:off x="11414455" y="6400800"/>
            <a:ext cx="548640" cy="274320"/>
          </a:xfrm>
          <a:prstGeom prst="rect">
            <a:avLst/>
          </a:prstGeom>
          <a:noFill/>
          <a:ln/>
        </p:spPr>
        <p:txBody>
          <a:bodyPr wrap="square" lIns="0" tIns="0" rIns="0" bIns="0" rtlCol="0" anchor="ctr"/>
          <a:lstStyle/>
          <a:p>
            <a:pPr algn="r" indent="0" marL="0">
              <a:buNone/>
            </a:pPr>
            <a:r>
              <a:rPr lang="en-US" sz="1000" dirty="0">
                <a:solidFill>
                  <a:srgbClr val="9298AC"/>
                </a:solidFill>
                <a:latin typeface="Courier New" pitchFamily="34" charset="0"/>
                <a:ea typeface="Courier New" pitchFamily="34" charset="-122"/>
                <a:cs typeface="Courier New"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315200" cy="365760"/>
          </a:xfrm>
          <a:prstGeom prst="rect">
            <a:avLst/>
          </a:prstGeom>
          <a:noFill/>
          <a:ln/>
        </p:spPr>
        <p:txBody>
          <a:bodyPr wrap="square" lIns="0" tIns="0" rIns="0" bIns="0" rtlCol="0" anchor="ctr"/>
          <a:lstStyle/>
          <a:p>
            <a:pPr indent="0" marL="0">
              <a:buNone/>
            </a:pPr>
            <a:r>
              <a:rPr lang="en-US" sz="1250" b="1" spc="300" kern="0" dirty="0">
                <a:solidFill>
                  <a:srgbClr val="2BB897"/>
                </a:solidFill>
                <a:latin typeface="Courier New" pitchFamily="34" charset="0"/>
                <a:ea typeface="Courier New" pitchFamily="34" charset="-122"/>
                <a:cs typeface="Courier New" pitchFamily="34" charset="-120"/>
              </a:rPr>
              <a:t>SIDE ONE — THE CUTS</a:t>
            </a:r>
            <a:endParaRPr lang="en-US" sz="1250" dirty="0"/>
          </a:p>
        </p:txBody>
      </p:sp>
      <p:sp>
        <p:nvSpPr>
          <p:cNvPr id="3" name="Text 1"/>
          <p:cNvSpPr/>
          <p:nvPr/>
        </p:nvSpPr>
        <p:spPr>
          <a:xfrm>
            <a:off x="640080" y="914400"/>
            <a:ext cx="10789920" cy="777240"/>
          </a:xfrm>
          <a:prstGeom prst="rect">
            <a:avLst/>
          </a:prstGeom>
          <a:noFill/>
          <a:ln/>
        </p:spPr>
        <p:txBody>
          <a:bodyPr wrap="square" lIns="0" tIns="0" rIns="0" bIns="0" rtlCol="0" anchor="ctr"/>
          <a:lstStyle/>
          <a:p>
            <a:pPr indent="0" marL="0">
              <a:buNone/>
            </a:pPr>
            <a:r>
              <a:rPr lang="en-US" sz="2700" b="1" dirty="0">
                <a:solidFill>
                  <a:srgbClr val="1A1D29"/>
                </a:solidFill>
                <a:latin typeface="Cambria" pitchFamily="34" charset="0"/>
                <a:ea typeface="Cambria" pitchFamily="34" charset="-122"/>
                <a:cs typeface="Cambria" pitchFamily="34" charset="-120"/>
              </a:rPr>
              <a:t>The case that AI is shrinking entry-level hiring.</a:t>
            </a:r>
            <a:endParaRPr lang="en-US" sz="2700" dirty="0"/>
          </a:p>
        </p:txBody>
      </p:sp>
      <p:sp>
        <p:nvSpPr>
          <p:cNvPr id="4" name="Shape 2"/>
          <p:cNvSpPr/>
          <p:nvPr/>
        </p:nvSpPr>
        <p:spPr>
          <a:xfrm>
            <a:off x="640080" y="2724912"/>
            <a:ext cx="6903720" cy="10973"/>
          </a:xfrm>
          <a:prstGeom prst="rect">
            <a:avLst/>
          </a:prstGeom>
          <a:solidFill>
            <a:srgbClr val="E6E8F0"/>
          </a:solidFill>
          <a:ln/>
        </p:spPr>
      </p:sp>
      <p:sp>
        <p:nvSpPr>
          <p:cNvPr id="5" name="Text 3"/>
          <p:cNvSpPr/>
          <p:nvPr/>
        </p:nvSpPr>
        <p:spPr>
          <a:xfrm>
            <a:off x="640080" y="1874520"/>
            <a:ext cx="1783080" cy="731520"/>
          </a:xfrm>
          <a:prstGeom prst="rect">
            <a:avLst/>
          </a:prstGeom>
          <a:noFill/>
          <a:ln/>
        </p:spPr>
        <p:txBody>
          <a:bodyPr wrap="square" lIns="0" tIns="0" rIns="0" bIns="0" rtlCol="0" anchor="ctr"/>
          <a:lstStyle/>
          <a:p>
            <a:pPr indent="0" marL="0">
              <a:buNone/>
            </a:pPr>
            <a:r>
              <a:rPr lang="en-US" sz="3000" b="1" dirty="0">
                <a:solidFill>
                  <a:srgbClr val="E04F40"/>
                </a:solidFill>
                <a:latin typeface="Cambria" pitchFamily="34" charset="0"/>
                <a:ea typeface="Cambria" pitchFamily="34" charset="-122"/>
                <a:cs typeface="Cambria" pitchFamily="34" charset="-120"/>
              </a:rPr>
              <a:t>–20%</a:t>
            </a:r>
            <a:endParaRPr lang="en-US" sz="3000" dirty="0"/>
          </a:p>
        </p:txBody>
      </p:sp>
      <p:sp>
        <p:nvSpPr>
          <p:cNvPr id="6" name="Text 4"/>
          <p:cNvSpPr/>
          <p:nvPr/>
        </p:nvSpPr>
        <p:spPr>
          <a:xfrm>
            <a:off x="2514600" y="1874520"/>
            <a:ext cx="3657600" cy="594360"/>
          </a:xfrm>
          <a:prstGeom prst="rect">
            <a:avLst/>
          </a:prstGeom>
          <a:noFill/>
          <a:ln/>
        </p:spPr>
        <p:txBody>
          <a:bodyPr wrap="square" lIns="0" tIns="0" rIns="0" bIns="0" rtlCol="0" anchor="ctr"/>
          <a:lstStyle/>
          <a:p>
            <a:pPr indent="0" marL="0">
              <a:lnSpc>
                <a:spcPct val="110000"/>
              </a:lnSpc>
              <a:buNone/>
            </a:pPr>
            <a:r>
              <a:rPr lang="en-US" sz="1300" b="1" dirty="0">
                <a:solidFill>
                  <a:srgbClr val="1A1D29"/>
                </a:solidFill>
                <a:latin typeface="Calibri" pitchFamily="34" charset="0"/>
                <a:ea typeface="Calibri" pitchFamily="34" charset="-122"/>
                <a:cs typeface="Calibri" pitchFamily="34" charset="-120"/>
              </a:rPr>
              <a:t>employment for devs aged 22–25 since late 2022</a:t>
            </a:r>
            <a:endParaRPr lang="en-US" sz="1300" dirty="0"/>
          </a:p>
        </p:txBody>
      </p:sp>
      <p:sp>
        <p:nvSpPr>
          <p:cNvPr id="7" name="Text 5"/>
          <p:cNvSpPr/>
          <p:nvPr/>
        </p:nvSpPr>
        <p:spPr>
          <a:xfrm>
            <a:off x="2514600" y="2441448"/>
            <a:ext cx="4114800" cy="320040"/>
          </a:xfrm>
          <a:prstGeom prst="rect">
            <a:avLst/>
          </a:prstGeom>
          <a:noFill/>
          <a:ln/>
        </p:spPr>
        <p:txBody>
          <a:bodyPr wrap="square" lIns="0" tIns="0" rIns="0" bIns="0" rtlCol="0" anchor="ctr"/>
          <a:lstStyle/>
          <a:p>
            <a:pPr indent="0" marL="0">
              <a:buNone/>
            </a:pPr>
            <a:r>
              <a:rPr lang="en-US" sz="1000" i="1" dirty="0">
                <a:solidFill>
                  <a:srgbClr val="4A4F66"/>
                </a:solidFill>
                <a:latin typeface="Calibri" pitchFamily="34" charset="0"/>
                <a:ea typeface="Calibri" pitchFamily="34" charset="-122"/>
                <a:cs typeface="Calibri" pitchFamily="34" charset="-120"/>
              </a:rPr>
              <a:t>Stanford Digital Economy Study</a:t>
            </a:r>
            <a:endParaRPr lang="en-US" sz="1000" dirty="0"/>
          </a:p>
        </p:txBody>
      </p:sp>
      <p:sp>
        <p:nvSpPr>
          <p:cNvPr id="8" name="Shape 6"/>
          <p:cNvSpPr/>
          <p:nvPr/>
        </p:nvSpPr>
        <p:spPr>
          <a:xfrm>
            <a:off x="640080" y="3685032"/>
            <a:ext cx="6903720" cy="10973"/>
          </a:xfrm>
          <a:prstGeom prst="rect">
            <a:avLst/>
          </a:prstGeom>
          <a:solidFill>
            <a:srgbClr val="E6E8F0"/>
          </a:solidFill>
          <a:ln/>
        </p:spPr>
      </p:sp>
      <p:sp>
        <p:nvSpPr>
          <p:cNvPr id="9" name="Text 7"/>
          <p:cNvSpPr/>
          <p:nvPr/>
        </p:nvSpPr>
        <p:spPr>
          <a:xfrm>
            <a:off x="640080" y="2834640"/>
            <a:ext cx="1783080" cy="731520"/>
          </a:xfrm>
          <a:prstGeom prst="rect">
            <a:avLst/>
          </a:prstGeom>
          <a:noFill/>
          <a:ln/>
        </p:spPr>
        <p:txBody>
          <a:bodyPr wrap="square" lIns="0" tIns="0" rIns="0" bIns="0" rtlCol="0" anchor="ctr"/>
          <a:lstStyle/>
          <a:p>
            <a:pPr indent="0" marL="0">
              <a:buNone/>
            </a:pPr>
            <a:r>
              <a:rPr lang="en-US" sz="3000" b="1" dirty="0">
                <a:solidFill>
                  <a:srgbClr val="E04F40"/>
                </a:solidFill>
                <a:latin typeface="Cambria" pitchFamily="34" charset="0"/>
                <a:ea typeface="Cambria" pitchFamily="34" charset="-122"/>
                <a:cs typeface="Cambria" pitchFamily="34" charset="-120"/>
              </a:rPr>
              <a:t>–40%</a:t>
            </a:r>
            <a:endParaRPr lang="en-US" sz="3000" dirty="0"/>
          </a:p>
        </p:txBody>
      </p:sp>
      <p:sp>
        <p:nvSpPr>
          <p:cNvPr id="10" name="Text 8"/>
          <p:cNvSpPr/>
          <p:nvPr/>
        </p:nvSpPr>
        <p:spPr>
          <a:xfrm>
            <a:off x="2514600" y="2834640"/>
            <a:ext cx="3657600" cy="594360"/>
          </a:xfrm>
          <a:prstGeom prst="rect">
            <a:avLst/>
          </a:prstGeom>
          <a:noFill/>
          <a:ln/>
        </p:spPr>
        <p:txBody>
          <a:bodyPr wrap="square" lIns="0" tIns="0" rIns="0" bIns="0" rtlCol="0" anchor="ctr"/>
          <a:lstStyle/>
          <a:p>
            <a:pPr indent="0" marL="0">
              <a:lnSpc>
                <a:spcPct val="110000"/>
              </a:lnSpc>
              <a:buNone/>
            </a:pPr>
            <a:r>
              <a:rPr lang="en-US" sz="1300" b="1" dirty="0">
                <a:solidFill>
                  <a:srgbClr val="1A1D29"/>
                </a:solidFill>
                <a:latin typeface="Calibri" pitchFamily="34" charset="0"/>
                <a:ea typeface="Calibri" pitchFamily="34" charset="-122"/>
                <a:cs typeface="Calibri" pitchFamily="34" charset="-120"/>
              </a:rPr>
              <a:t>entry-level postings vs. 2022 peak</a:t>
            </a:r>
            <a:endParaRPr lang="en-US" sz="1300" dirty="0"/>
          </a:p>
        </p:txBody>
      </p:sp>
      <p:sp>
        <p:nvSpPr>
          <p:cNvPr id="11" name="Text 9"/>
          <p:cNvSpPr/>
          <p:nvPr/>
        </p:nvSpPr>
        <p:spPr>
          <a:xfrm>
            <a:off x="2514600" y="3401568"/>
            <a:ext cx="4114800" cy="320040"/>
          </a:xfrm>
          <a:prstGeom prst="rect">
            <a:avLst/>
          </a:prstGeom>
          <a:noFill/>
          <a:ln/>
        </p:spPr>
        <p:txBody>
          <a:bodyPr wrap="square" lIns="0" tIns="0" rIns="0" bIns="0" rtlCol="0" anchor="ctr"/>
          <a:lstStyle/>
          <a:p>
            <a:pPr indent="0" marL="0">
              <a:buNone/>
            </a:pPr>
            <a:r>
              <a:rPr lang="en-US" sz="1000" i="1" dirty="0">
                <a:solidFill>
                  <a:srgbClr val="4A4F66"/>
                </a:solidFill>
                <a:latin typeface="Calibri" pitchFamily="34" charset="0"/>
                <a:ea typeface="Calibri" pitchFamily="34" charset="-122"/>
                <a:cs typeface="Calibri" pitchFamily="34" charset="-120"/>
              </a:rPr>
              <a:t>LinkedIn / Final Round AI analysis</a:t>
            </a:r>
            <a:endParaRPr lang="en-US" sz="1000" dirty="0"/>
          </a:p>
        </p:txBody>
      </p:sp>
      <p:sp>
        <p:nvSpPr>
          <p:cNvPr id="12" name="Shape 10"/>
          <p:cNvSpPr/>
          <p:nvPr/>
        </p:nvSpPr>
        <p:spPr>
          <a:xfrm>
            <a:off x="640080" y="4645152"/>
            <a:ext cx="6903720" cy="10973"/>
          </a:xfrm>
          <a:prstGeom prst="rect">
            <a:avLst/>
          </a:prstGeom>
          <a:solidFill>
            <a:srgbClr val="E6E8F0"/>
          </a:solidFill>
          <a:ln/>
        </p:spPr>
      </p:sp>
      <p:sp>
        <p:nvSpPr>
          <p:cNvPr id="13" name="Text 11"/>
          <p:cNvSpPr/>
          <p:nvPr/>
        </p:nvSpPr>
        <p:spPr>
          <a:xfrm>
            <a:off x="640080" y="3794760"/>
            <a:ext cx="1783080" cy="731520"/>
          </a:xfrm>
          <a:prstGeom prst="rect">
            <a:avLst/>
          </a:prstGeom>
          <a:noFill/>
          <a:ln/>
        </p:spPr>
        <p:txBody>
          <a:bodyPr wrap="square" lIns="0" tIns="0" rIns="0" bIns="0" rtlCol="0" anchor="ctr"/>
          <a:lstStyle/>
          <a:p>
            <a:pPr indent="0" marL="0">
              <a:buNone/>
            </a:pPr>
            <a:r>
              <a:rPr lang="en-US" sz="3000" b="1" dirty="0">
                <a:solidFill>
                  <a:srgbClr val="E04F40"/>
                </a:solidFill>
                <a:latin typeface="Cambria" pitchFamily="34" charset="0"/>
                <a:ea typeface="Cambria" pitchFamily="34" charset="-122"/>
                <a:cs typeface="Cambria" pitchFamily="34" charset="-120"/>
              </a:rPr>
              <a:t>–15%</a:t>
            </a:r>
            <a:endParaRPr lang="en-US" sz="3000" dirty="0"/>
          </a:p>
        </p:txBody>
      </p:sp>
      <p:sp>
        <p:nvSpPr>
          <p:cNvPr id="14" name="Text 12"/>
          <p:cNvSpPr/>
          <p:nvPr/>
        </p:nvSpPr>
        <p:spPr>
          <a:xfrm>
            <a:off x="2514600" y="3794760"/>
            <a:ext cx="3657600" cy="594360"/>
          </a:xfrm>
          <a:prstGeom prst="rect">
            <a:avLst/>
          </a:prstGeom>
          <a:noFill/>
          <a:ln/>
        </p:spPr>
        <p:txBody>
          <a:bodyPr wrap="square" lIns="0" tIns="0" rIns="0" bIns="0" rtlCol="0" anchor="ctr"/>
          <a:lstStyle/>
          <a:p>
            <a:pPr indent="0" marL="0">
              <a:lnSpc>
                <a:spcPct val="110000"/>
              </a:lnSpc>
              <a:buNone/>
            </a:pPr>
            <a:r>
              <a:rPr lang="en-US" sz="1300" b="1" dirty="0">
                <a:solidFill>
                  <a:srgbClr val="1A1D29"/>
                </a:solidFill>
                <a:latin typeface="Calibri" pitchFamily="34" charset="0"/>
                <a:ea typeface="Calibri" pitchFamily="34" charset="-122"/>
                <a:cs typeface="Calibri" pitchFamily="34" charset="-120"/>
              </a:rPr>
              <a:t>new SWE postings in first 2 months of 2026 alone</a:t>
            </a:r>
            <a:endParaRPr lang="en-US" sz="1300" dirty="0"/>
          </a:p>
        </p:txBody>
      </p:sp>
      <p:sp>
        <p:nvSpPr>
          <p:cNvPr id="15" name="Text 13"/>
          <p:cNvSpPr/>
          <p:nvPr/>
        </p:nvSpPr>
        <p:spPr>
          <a:xfrm>
            <a:off x="2514600" y="4361688"/>
            <a:ext cx="4114800" cy="320040"/>
          </a:xfrm>
          <a:prstGeom prst="rect">
            <a:avLst/>
          </a:prstGeom>
          <a:noFill/>
          <a:ln/>
        </p:spPr>
        <p:txBody>
          <a:bodyPr wrap="square" lIns="0" tIns="0" rIns="0" bIns="0" rtlCol="0" anchor="ctr"/>
          <a:lstStyle/>
          <a:p>
            <a:pPr indent="0" marL="0">
              <a:buNone/>
            </a:pPr>
            <a:r>
              <a:rPr lang="en-US" sz="1000" i="1" dirty="0">
                <a:solidFill>
                  <a:srgbClr val="4A4F66"/>
                </a:solidFill>
                <a:latin typeface="Calibri" pitchFamily="34" charset="0"/>
                <a:ea typeface="Calibri" pitchFamily="34" charset="-122"/>
                <a:cs typeface="Calibri" pitchFamily="34" charset="-120"/>
              </a:rPr>
              <a:t>DEV Community / industry hiring data</a:t>
            </a:r>
            <a:endParaRPr lang="en-US" sz="1000" dirty="0"/>
          </a:p>
        </p:txBody>
      </p:sp>
      <p:sp>
        <p:nvSpPr>
          <p:cNvPr id="16" name="Shape 14"/>
          <p:cNvSpPr/>
          <p:nvPr/>
        </p:nvSpPr>
        <p:spPr>
          <a:xfrm>
            <a:off x="640080" y="5605272"/>
            <a:ext cx="6903720" cy="10973"/>
          </a:xfrm>
          <a:prstGeom prst="rect">
            <a:avLst/>
          </a:prstGeom>
          <a:solidFill>
            <a:srgbClr val="E6E8F0"/>
          </a:solidFill>
          <a:ln/>
        </p:spPr>
      </p:sp>
      <p:sp>
        <p:nvSpPr>
          <p:cNvPr id="17" name="Text 15"/>
          <p:cNvSpPr/>
          <p:nvPr/>
        </p:nvSpPr>
        <p:spPr>
          <a:xfrm>
            <a:off x="640080" y="4754880"/>
            <a:ext cx="1783080" cy="731520"/>
          </a:xfrm>
          <a:prstGeom prst="rect">
            <a:avLst/>
          </a:prstGeom>
          <a:noFill/>
          <a:ln/>
        </p:spPr>
        <p:txBody>
          <a:bodyPr wrap="square" lIns="0" tIns="0" rIns="0" bIns="0" rtlCol="0" anchor="ctr"/>
          <a:lstStyle/>
          <a:p>
            <a:pPr indent="0" marL="0">
              <a:buNone/>
            </a:pPr>
            <a:r>
              <a:rPr lang="en-US" sz="3000" b="1" dirty="0">
                <a:solidFill>
                  <a:srgbClr val="E04F40"/>
                </a:solidFill>
                <a:latin typeface="Cambria" pitchFamily="34" charset="0"/>
                <a:ea typeface="Cambria" pitchFamily="34" charset="-122"/>
                <a:cs typeface="Cambria" pitchFamily="34" charset="-120"/>
              </a:rPr>
              <a:t>15%→7%</a:t>
            </a:r>
            <a:endParaRPr lang="en-US" sz="3000" dirty="0"/>
          </a:p>
        </p:txBody>
      </p:sp>
      <p:sp>
        <p:nvSpPr>
          <p:cNvPr id="18" name="Text 16"/>
          <p:cNvSpPr/>
          <p:nvPr/>
        </p:nvSpPr>
        <p:spPr>
          <a:xfrm>
            <a:off x="2514600" y="4754880"/>
            <a:ext cx="3657600" cy="594360"/>
          </a:xfrm>
          <a:prstGeom prst="rect">
            <a:avLst/>
          </a:prstGeom>
          <a:noFill/>
          <a:ln/>
        </p:spPr>
        <p:txBody>
          <a:bodyPr wrap="square" lIns="0" tIns="0" rIns="0" bIns="0" rtlCol="0" anchor="ctr"/>
          <a:lstStyle/>
          <a:p>
            <a:pPr indent="0" marL="0">
              <a:lnSpc>
                <a:spcPct val="110000"/>
              </a:lnSpc>
              <a:buNone/>
            </a:pPr>
            <a:r>
              <a:rPr lang="en-US" sz="1300" b="1" dirty="0">
                <a:solidFill>
                  <a:srgbClr val="1A1D29"/>
                </a:solidFill>
                <a:latin typeface="Calibri" pitchFamily="34" charset="0"/>
                <a:ea typeface="Calibri" pitchFamily="34" charset="-122"/>
                <a:cs typeface="Calibri" pitchFamily="34" charset="-120"/>
              </a:rPr>
              <a:t>junior share of overall tech hiring</a:t>
            </a:r>
            <a:endParaRPr lang="en-US" sz="1300" dirty="0"/>
          </a:p>
        </p:txBody>
      </p:sp>
      <p:sp>
        <p:nvSpPr>
          <p:cNvPr id="19" name="Text 17"/>
          <p:cNvSpPr/>
          <p:nvPr/>
        </p:nvSpPr>
        <p:spPr>
          <a:xfrm>
            <a:off x="2514600" y="5321808"/>
            <a:ext cx="4114800" cy="320040"/>
          </a:xfrm>
          <a:prstGeom prst="rect">
            <a:avLst/>
          </a:prstGeom>
          <a:noFill/>
          <a:ln/>
        </p:spPr>
        <p:txBody>
          <a:bodyPr wrap="square" lIns="0" tIns="0" rIns="0" bIns="0" rtlCol="0" anchor="ctr"/>
          <a:lstStyle/>
          <a:p>
            <a:pPr indent="0" marL="0">
              <a:buNone/>
            </a:pPr>
            <a:r>
              <a:rPr lang="en-US" sz="1000" i="1" dirty="0">
                <a:solidFill>
                  <a:srgbClr val="4A4F66"/>
                </a:solidFill>
                <a:latin typeface="Calibri" pitchFamily="34" charset="0"/>
                <a:ea typeface="Calibri" pitchFamily="34" charset="-122"/>
                <a:cs typeface="Calibri" pitchFamily="34" charset="-120"/>
              </a:rPr>
              <a:t>Ardura Consulting market analysis</a:t>
            </a:r>
            <a:endParaRPr lang="en-US" sz="1000" dirty="0"/>
          </a:p>
        </p:txBody>
      </p:sp>
      <p:sp>
        <p:nvSpPr>
          <p:cNvPr id="20" name="Shape 18"/>
          <p:cNvSpPr/>
          <p:nvPr/>
        </p:nvSpPr>
        <p:spPr>
          <a:xfrm>
            <a:off x="7818120" y="1874520"/>
            <a:ext cx="3749040" cy="3840480"/>
          </a:xfrm>
          <a:prstGeom prst="roundRect">
            <a:avLst>
              <a:gd name="adj" fmla="val 2195"/>
            </a:avLst>
          </a:prstGeom>
          <a:solidFill>
            <a:srgbClr val="12141C"/>
          </a:solidFill>
          <a:ln/>
          <a:effectLst>
            <a:outerShdw sx="100000" sy="100000" kx="0" ky="0" algn="bl" rotWithShape="0" blurRad="114300" dist="38100" dir="2700000">
              <a:srgbClr val="000000">
                <a:alpha val="18000"/>
              </a:srgbClr>
            </a:outerShdw>
          </a:effectLst>
        </p:spPr>
      </p:sp>
      <p:sp>
        <p:nvSpPr>
          <p:cNvPr id="21" name="Shape 19"/>
          <p:cNvSpPr/>
          <p:nvPr/>
        </p:nvSpPr>
        <p:spPr>
          <a:xfrm>
            <a:off x="8138160" y="2148840"/>
            <a:ext cx="566928" cy="566928"/>
          </a:xfrm>
          <a:prstGeom prst="ellipse">
            <a:avLst/>
          </a:prstGeom>
          <a:solidFill>
            <a:srgbClr val="E04F40"/>
          </a:solidFill>
          <a:ln/>
        </p:spPr>
      </p:sp>
      <p:pic>
        <p:nvPicPr>
          <p:cNvPr id="22" name="Image 0" descr="icons/layers_white.png">    </p:cNvPr>
          <p:cNvPicPr>
            <a:picLocks noChangeAspect="1"/>
          </p:cNvPicPr>
          <p:nvPr/>
        </p:nvPicPr>
        <p:blipFill>
          <a:blip r:embed="rId1"/>
          <a:stretch>
            <a:fillRect/>
          </a:stretch>
        </p:blipFill>
        <p:spPr>
          <a:xfrm>
            <a:off x="8228868" y="2239548"/>
            <a:ext cx="385511" cy="385511"/>
          </a:xfrm>
          <a:prstGeom prst="rect">
            <a:avLst/>
          </a:prstGeom>
        </p:spPr>
      </p:pic>
      <p:sp>
        <p:nvSpPr>
          <p:cNvPr id="23" name="Text 20"/>
          <p:cNvSpPr/>
          <p:nvPr/>
        </p:nvSpPr>
        <p:spPr>
          <a:xfrm>
            <a:off x="8138160" y="2852928"/>
            <a:ext cx="310896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The mechanism</a:t>
            </a:r>
            <a:endParaRPr lang="en-US" sz="1600" dirty="0"/>
          </a:p>
        </p:txBody>
      </p:sp>
      <p:sp>
        <p:nvSpPr>
          <p:cNvPr id="24" name="Text 21"/>
          <p:cNvSpPr/>
          <p:nvPr/>
        </p:nvSpPr>
        <p:spPr>
          <a:xfrm>
            <a:off x="8138160" y="3291840"/>
            <a:ext cx="3108960" cy="1554480"/>
          </a:xfrm>
          <a:prstGeom prst="rect">
            <a:avLst/>
          </a:prstGeom>
          <a:noFill/>
          <a:ln/>
        </p:spPr>
        <p:txBody>
          <a:bodyPr wrap="square" lIns="0" tIns="0" rIns="0" bIns="0" rtlCol="0" anchor="ctr"/>
          <a:lstStyle/>
          <a:p>
            <a:pPr indent="0" marL="0">
              <a:lnSpc>
                <a:spcPct val="130000"/>
              </a:lnSpc>
              <a:buNone/>
            </a:pPr>
            <a:r>
              <a:rPr lang="en-US" sz="1250" dirty="0">
                <a:solidFill>
                  <a:srgbClr val="C7CCDC"/>
                </a:solidFill>
                <a:latin typeface="Calibri" pitchFamily="34" charset="0"/>
                <a:ea typeface="Calibri" pitchFamily="34" charset="-122"/>
                <a:cs typeface="Calibri" pitchFamily="34" charset="-120"/>
              </a:rPr>
              <a:t>Companies report a small team of senior developers using Copilot, Cursor, or Claude Code can now ship what used to take a much larger team — including the juniors who handled simpler, repetitive work.</a:t>
            </a:r>
            <a:endParaRPr lang="en-US" sz="1250" dirty="0"/>
          </a:p>
        </p:txBody>
      </p:sp>
      <p:sp>
        <p:nvSpPr>
          <p:cNvPr id="25" name="Text 22"/>
          <p:cNvSpPr/>
          <p:nvPr/>
        </p:nvSpPr>
        <p:spPr>
          <a:xfrm>
            <a:off x="8138160" y="5029200"/>
            <a:ext cx="3108960" cy="594360"/>
          </a:xfrm>
          <a:prstGeom prst="rect">
            <a:avLst/>
          </a:prstGeom>
          <a:noFill/>
          <a:ln/>
        </p:spPr>
        <p:txBody>
          <a:bodyPr wrap="square" lIns="0" tIns="0" rIns="0" bIns="0" rtlCol="0" anchor="ctr"/>
          <a:lstStyle/>
          <a:p>
            <a:pPr indent="0" marL="0">
              <a:lnSpc>
                <a:spcPct val="120000"/>
              </a:lnSpc>
              <a:buNone/>
            </a:pPr>
            <a:r>
              <a:rPr lang="en-US" sz="1050" i="1" dirty="0">
                <a:solidFill>
                  <a:srgbClr val="9298AC"/>
                </a:solidFill>
                <a:latin typeface="Calibri" pitchFamily="34" charset="0"/>
                <a:ea typeface="Calibri" pitchFamily="34" charset="-122"/>
                <a:cs typeface="Calibri" pitchFamily="34" charset="-120"/>
              </a:rPr>
              <a:t>Klarna froze developer hiring (2023) • Salesforce signaled slower engineering hiring (2025)</a:t>
            </a:r>
            <a:endParaRPr lang="en-US" sz="1050" dirty="0"/>
          </a:p>
        </p:txBody>
      </p:sp>
      <p:sp>
        <p:nvSpPr>
          <p:cNvPr id="26" name="Text 23"/>
          <p:cNvSpPr/>
          <p:nvPr/>
        </p:nvSpPr>
        <p:spPr>
          <a:xfrm>
            <a:off x="11414455" y="6400800"/>
            <a:ext cx="548640" cy="274320"/>
          </a:xfrm>
          <a:prstGeom prst="rect">
            <a:avLst/>
          </a:prstGeom>
          <a:noFill/>
          <a:ln/>
        </p:spPr>
        <p:txBody>
          <a:bodyPr wrap="square" lIns="0" tIns="0" rIns="0" bIns="0" rtlCol="0" anchor="ctr"/>
          <a:lstStyle/>
          <a:p>
            <a:pPr algn="r" indent="0" marL="0">
              <a:buNone/>
            </a:pPr>
            <a:r>
              <a:rPr lang="en-US" sz="1000" dirty="0">
                <a:solidFill>
                  <a:srgbClr val="4A4F66"/>
                </a:solidFill>
                <a:latin typeface="Courier New" pitchFamily="34" charset="0"/>
                <a:ea typeface="Courier New" pitchFamily="34" charset="-122"/>
                <a:cs typeface="Courier New"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640080" y="502920"/>
            <a:ext cx="7315200" cy="365760"/>
          </a:xfrm>
          <a:prstGeom prst="rect">
            <a:avLst/>
          </a:prstGeom>
          <a:noFill/>
          <a:ln/>
        </p:spPr>
        <p:txBody>
          <a:bodyPr wrap="square" lIns="0" tIns="0" rIns="0" bIns="0" rtlCol="0" anchor="ctr"/>
          <a:lstStyle/>
          <a:p>
            <a:pPr indent="0" marL="0">
              <a:buNone/>
            </a:pPr>
            <a:r>
              <a:rPr lang="en-US" sz="1250" b="1" spc="300" kern="0" dirty="0">
                <a:solidFill>
                  <a:srgbClr val="7DF9C1"/>
                </a:solidFill>
                <a:latin typeface="Courier New" pitchFamily="34" charset="0"/>
                <a:ea typeface="Courier New" pitchFamily="34" charset="-122"/>
                <a:cs typeface="Courier New" pitchFamily="34" charset="-120"/>
              </a:rPr>
              <a:t>SIDE TWO — THE PUSHBACK</a:t>
            </a:r>
            <a:endParaRPr lang="en-US" sz="1250" dirty="0"/>
          </a:p>
        </p:txBody>
      </p:sp>
      <p:sp>
        <p:nvSpPr>
          <p:cNvPr id="3" name="Text 1"/>
          <p:cNvSpPr/>
          <p:nvPr/>
        </p:nvSpPr>
        <p:spPr>
          <a:xfrm>
            <a:off x="640080" y="914400"/>
            <a:ext cx="10789920" cy="77724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Not everyone agrees — and the receipts back it up.</a:t>
            </a:r>
            <a:endParaRPr lang="en-US" sz="2700" dirty="0"/>
          </a:p>
        </p:txBody>
      </p:sp>
      <p:sp>
        <p:nvSpPr>
          <p:cNvPr id="4" name="Shape 2"/>
          <p:cNvSpPr/>
          <p:nvPr/>
        </p:nvSpPr>
        <p:spPr>
          <a:xfrm>
            <a:off x="640080" y="1874520"/>
            <a:ext cx="6309360" cy="3840480"/>
          </a:xfrm>
          <a:prstGeom prst="roundRect">
            <a:avLst>
              <a:gd name="adj" fmla="val 2143"/>
            </a:avLst>
          </a:prstGeom>
          <a:solidFill>
            <a:srgbClr val="1A1D29"/>
          </a:solidFill>
          <a:ln/>
          <a:effectLst>
            <a:outerShdw sx="100000" sy="100000" kx="0" ky="0" algn="bl" rotWithShape="0" blurRad="114300" dist="38100" dir="2700000">
              <a:srgbClr val="000000">
                <a:alpha val="20000"/>
              </a:srgbClr>
            </a:outerShdw>
          </a:effectLst>
        </p:spPr>
      </p:sp>
      <p:sp>
        <p:nvSpPr>
          <p:cNvPr id="5" name="Shape 3"/>
          <p:cNvSpPr/>
          <p:nvPr/>
        </p:nvSpPr>
        <p:spPr>
          <a:xfrm>
            <a:off x="1005840" y="2194560"/>
            <a:ext cx="548640" cy="548640"/>
          </a:xfrm>
          <a:prstGeom prst="ellipse">
            <a:avLst/>
          </a:prstGeom>
          <a:solidFill>
            <a:srgbClr val="2BB897"/>
          </a:solidFill>
          <a:ln/>
        </p:spPr>
      </p:sp>
      <p:pic>
        <p:nvPicPr>
          <p:cNvPr id="6" name="Image 0" descr="icons/quote_white.png">    </p:cNvPr>
          <p:cNvPicPr>
            <a:picLocks noChangeAspect="1"/>
          </p:cNvPicPr>
          <p:nvPr/>
        </p:nvPicPr>
        <p:blipFill>
          <a:blip r:embed="rId1"/>
          <a:stretch>
            <a:fillRect/>
          </a:stretch>
        </p:blipFill>
        <p:spPr>
          <a:xfrm>
            <a:off x="1093622" y="2282342"/>
            <a:ext cx="373075" cy="373075"/>
          </a:xfrm>
          <a:prstGeom prst="rect">
            <a:avLst/>
          </a:prstGeom>
        </p:spPr>
      </p:pic>
      <p:sp>
        <p:nvSpPr>
          <p:cNvPr id="7" name="Text 4"/>
          <p:cNvSpPr/>
          <p:nvPr/>
        </p:nvSpPr>
        <p:spPr>
          <a:xfrm>
            <a:off x="1005840" y="2880360"/>
            <a:ext cx="5577840" cy="1874520"/>
          </a:xfrm>
          <a:prstGeom prst="rect">
            <a:avLst/>
          </a:prstGeom>
          <a:noFill/>
          <a:ln/>
        </p:spPr>
        <p:txBody>
          <a:bodyPr wrap="square" lIns="0" tIns="0" rIns="0" bIns="0" rtlCol="0" anchor="ctr"/>
          <a:lstStyle/>
          <a:p>
            <a:pPr indent="0" marL="0">
              <a:lnSpc>
                <a:spcPct val="130000"/>
              </a:lnSpc>
              <a:buNone/>
            </a:pPr>
            <a:r>
              <a:rPr lang="en-US" sz="1900" i="1" dirty="0">
                <a:solidFill>
                  <a:srgbClr val="EDEFF7"/>
                </a:solidFill>
                <a:latin typeface="Cambria" pitchFamily="34" charset="0"/>
                <a:ea typeface="Cambria" pitchFamily="34" charset="-122"/>
                <a:cs typeface="Cambria" pitchFamily="34" charset="-120"/>
              </a:rPr>
              <a:t>“Replacing all of our junior people with AI is one of the dumbest things I’ve ever heard… if you have no junior people you’re mentoring and bringing up, at some point the whole thing explodes on itself.”</a:t>
            </a:r>
            <a:endParaRPr lang="en-US" sz="1900" dirty="0"/>
          </a:p>
        </p:txBody>
      </p:sp>
      <p:sp>
        <p:nvSpPr>
          <p:cNvPr id="8" name="Text 5"/>
          <p:cNvSpPr/>
          <p:nvPr/>
        </p:nvSpPr>
        <p:spPr>
          <a:xfrm>
            <a:off x="1005840" y="4800600"/>
            <a:ext cx="5577840" cy="365760"/>
          </a:xfrm>
          <a:prstGeom prst="rect">
            <a:avLst/>
          </a:prstGeom>
          <a:noFill/>
          <a:ln/>
        </p:spPr>
        <p:txBody>
          <a:bodyPr wrap="square" lIns="0" tIns="0" rIns="0" bIns="0" rtlCol="0" anchor="ctr"/>
          <a:lstStyle/>
          <a:p>
            <a:pPr indent="0" marL="0">
              <a:buNone/>
            </a:pPr>
            <a:r>
              <a:rPr lang="en-US" sz="1400" b="1" dirty="0">
                <a:solidFill>
                  <a:srgbClr val="7DF9C1"/>
                </a:solidFill>
                <a:latin typeface="Calibri" pitchFamily="34" charset="0"/>
                <a:ea typeface="Calibri" pitchFamily="34" charset="-122"/>
                <a:cs typeface="Calibri" pitchFamily="34" charset="-120"/>
              </a:rPr>
              <a:t>— Matt Garman, CEO of AWS</a:t>
            </a:r>
            <a:endParaRPr lang="en-US" sz="1400" dirty="0"/>
          </a:p>
        </p:txBody>
      </p:sp>
      <p:sp>
        <p:nvSpPr>
          <p:cNvPr id="9" name="Text 6"/>
          <p:cNvSpPr/>
          <p:nvPr/>
        </p:nvSpPr>
        <p:spPr>
          <a:xfrm>
            <a:off x="1005840" y="5148072"/>
            <a:ext cx="5577840" cy="320040"/>
          </a:xfrm>
          <a:prstGeom prst="rect">
            <a:avLst/>
          </a:prstGeom>
          <a:noFill/>
          <a:ln/>
        </p:spPr>
        <p:txBody>
          <a:bodyPr wrap="square" lIns="0" tIns="0" rIns="0" bIns="0" rtlCol="0" anchor="ctr"/>
          <a:lstStyle/>
          <a:p>
            <a:pPr indent="0" marL="0">
              <a:buNone/>
            </a:pPr>
            <a:r>
              <a:rPr lang="en-US" sz="1100" i="1" dirty="0">
                <a:solidFill>
                  <a:srgbClr val="9298AC"/>
                </a:solidFill>
                <a:latin typeface="Calibri" pitchFamily="34" charset="0"/>
                <a:ea typeface="Calibri" pitchFamily="34" charset="-122"/>
                <a:cs typeface="Calibri" pitchFamily="34" charset="-120"/>
              </a:rPr>
              <a:t>The Register / Fortune, 2025–2026</a:t>
            </a:r>
            <a:endParaRPr lang="en-US" sz="1100" dirty="0"/>
          </a:p>
        </p:txBody>
      </p:sp>
      <p:sp>
        <p:nvSpPr>
          <p:cNvPr id="10" name="Shape 7"/>
          <p:cNvSpPr/>
          <p:nvPr/>
        </p:nvSpPr>
        <p:spPr>
          <a:xfrm>
            <a:off x="7178040" y="1874520"/>
            <a:ext cx="4389120" cy="1801368"/>
          </a:xfrm>
          <a:prstGeom prst="roundRect">
            <a:avLst>
              <a:gd name="adj" fmla="val 4569"/>
            </a:avLst>
          </a:prstGeom>
          <a:solidFill>
            <a:srgbClr val="F0FBF6"/>
          </a:solidFill>
          <a:ln/>
          <a:effectLst>
            <a:outerShdw sx="100000" sy="100000" kx="0" ky="0" algn="bl" rotWithShape="0" blurRad="101600" dist="38100" dir="2700000">
              <a:srgbClr val="000000">
                <a:alpha val="75000"/>
              </a:srgbClr>
            </a:outerShdw>
          </a:effectLst>
        </p:spPr>
      </p:sp>
      <p:sp>
        <p:nvSpPr>
          <p:cNvPr id="11" name="Shape 8"/>
          <p:cNvSpPr/>
          <p:nvPr/>
        </p:nvSpPr>
        <p:spPr>
          <a:xfrm>
            <a:off x="7452360" y="2121408"/>
            <a:ext cx="502920" cy="502920"/>
          </a:xfrm>
          <a:prstGeom prst="ellipse">
            <a:avLst/>
          </a:prstGeom>
          <a:solidFill>
            <a:srgbClr val="2BB897"/>
          </a:solidFill>
          <a:ln/>
        </p:spPr>
      </p:sp>
      <p:pic>
        <p:nvPicPr>
          <p:cNvPr id="12" name="Image 1" descr="icons/grad_white.png">    </p:cNvPr>
          <p:cNvPicPr>
            <a:picLocks noChangeAspect="1"/>
          </p:cNvPicPr>
          <p:nvPr/>
        </p:nvPicPr>
        <p:blipFill>
          <a:blip r:embed="rId2"/>
          <a:stretch>
            <a:fillRect/>
          </a:stretch>
        </p:blipFill>
        <p:spPr>
          <a:xfrm>
            <a:off x="7532827" y="2201875"/>
            <a:ext cx="341986" cy="341986"/>
          </a:xfrm>
          <a:prstGeom prst="rect">
            <a:avLst/>
          </a:prstGeom>
        </p:spPr>
      </p:pic>
      <p:sp>
        <p:nvSpPr>
          <p:cNvPr id="13" name="Text 9"/>
          <p:cNvSpPr/>
          <p:nvPr/>
        </p:nvSpPr>
        <p:spPr>
          <a:xfrm>
            <a:off x="8138160" y="2075688"/>
            <a:ext cx="3154680" cy="365760"/>
          </a:xfrm>
          <a:prstGeom prst="rect">
            <a:avLst/>
          </a:prstGeom>
          <a:noFill/>
          <a:ln/>
        </p:spPr>
        <p:txBody>
          <a:bodyPr wrap="square" lIns="0" tIns="0" rIns="0" bIns="0" rtlCol="0" anchor="ctr"/>
          <a:lstStyle/>
          <a:p>
            <a:pPr indent="0" marL="0">
              <a:buNone/>
            </a:pPr>
            <a:r>
              <a:rPr lang="en-US" sz="1450" b="1" dirty="0">
                <a:solidFill>
                  <a:srgbClr val="1A1D29"/>
                </a:solidFill>
                <a:latin typeface="Calibri" pitchFamily="34" charset="0"/>
                <a:ea typeface="Calibri" pitchFamily="34" charset="-122"/>
                <a:cs typeface="Calibri" pitchFamily="34" charset="-120"/>
              </a:rPr>
              <a:t>Tripling entry-level US hiring</a:t>
            </a:r>
            <a:endParaRPr lang="en-US" sz="1450" dirty="0"/>
          </a:p>
        </p:txBody>
      </p:sp>
      <p:sp>
        <p:nvSpPr>
          <p:cNvPr id="14" name="Text 10"/>
          <p:cNvSpPr/>
          <p:nvPr/>
        </p:nvSpPr>
        <p:spPr>
          <a:xfrm>
            <a:off x="8138160" y="2441448"/>
            <a:ext cx="3154680" cy="1005840"/>
          </a:xfrm>
          <a:prstGeom prst="rect">
            <a:avLst/>
          </a:prstGeom>
          <a:noFill/>
          <a:ln/>
        </p:spPr>
        <p:txBody>
          <a:bodyPr wrap="square" lIns="0" tIns="0" rIns="0" bIns="0" rtlCol="0" anchor="ctr"/>
          <a:lstStyle/>
          <a:p>
            <a:pPr indent="0" marL="0">
              <a:lnSpc>
                <a:spcPct val="120000"/>
              </a:lnSpc>
              <a:buNone/>
            </a:pPr>
            <a:r>
              <a:rPr lang="en-US" sz="1150" dirty="0">
                <a:solidFill>
                  <a:srgbClr val="4A4F66"/>
                </a:solidFill>
                <a:latin typeface="Calibri" pitchFamily="34" charset="0"/>
                <a:ea typeface="Calibri" pitchFamily="34" charset="-122"/>
                <a:cs typeface="Calibri" pitchFamily="34" charset="-120"/>
              </a:rPr>
              <a:t>IBM’s 2026 plan — betting juniors working alongside AI are more valuable, not less.</a:t>
            </a:r>
            <a:endParaRPr lang="en-US" sz="1150" dirty="0"/>
          </a:p>
        </p:txBody>
      </p:sp>
      <p:sp>
        <p:nvSpPr>
          <p:cNvPr id="15" name="Shape 11"/>
          <p:cNvSpPr/>
          <p:nvPr/>
        </p:nvSpPr>
        <p:spPr>
          <a:xfrm>
            <a:off x="7178040" y="3904488"/>
            <a:ext cx="4389120" cy="1801368"/>
          </a:xfrm>
          <a:prstGeom prst="roundRect">
            <a:avLst>
              <a:gd name="adj" fmla="val 4569"/>
            </a:avLst>
          </a:prstGeom>
          <a:solidFill>
            <a:srgbClr val="F0FBF6"/>
          </a:solidFill>
          <a:ln/>
        </p:spPr>
      </p:sp>
      <p:sp>
        <p:nvSpPr>
          <p:cNvPr id="16" name="Shape 12"/>
          <p:cNvSpPr/>
          <p:nvPr/>
        </p:nvSpPr>
        <p:spPr>
          <a:xfrm>
            <a:off x="7452360" y="4151376"/>
            <a:ext cx="502920" cy="502920"/>
          </a:xfrm>
          <a:prstGeom prst="ellipse">
            <a:avLst/>
          </a:prstGeom>
          <a:solidFill>
            <a:srgbClr val="8B7CF6"/>
          </a:solidFill>
          <a:ln/>
        </p:spPr>
      </p:sp>
      <p:pic>
        <p:nvPicPr>
          <p:cNvPr id="17" name="Image 2" descr="icons/seedling_white.png">    </p:cNvPr>
          <p:cNvPicPr>
            <a:picLocks noChangeAspect="1"/>
          </p:cNvPicPr>
          <p:nvPr/>
        </p:nvPicPr>
        <p:blipFill>
          <a:blip r:embed="rId3"/>
          <a:stretch>
            <a:fillRect/>
          </a:stretch>
        </p:blipFill>
        <p:spPr>
          <a:xfrm>
            <a:off x="7532827" y="4231843"/>
            <a:ext cx="341986" cy="341986"/>
          </a:xfrm>
          <a:prstGeom prst="rect">
            <a:avLst/>
          </a:prstGeom>
        </p:spPr>
      </p:pic>
      <p:sp>
        <p:nvSpPr>
          <p:cNvPr id="18" name="Text 13"/>
          <p:cNvSpPr/>
          <p:nvPr/>
        </p:nvSpPr>
        <p:spPr>
          <a:xfrm>
            <a:off x="8138160" y="4105656"/>
            <a:ext cx="3154680" cy="365760"/>
          </a:xfrm>
          <a:prstGeom prst="rect">
            <a:avLst/>
          </a:prstGeom>
          <a:noFill/>
          <a:ln/>
        </p:spPr>
        <p:txBody>
          <a:bodyPr wrap="square" lIns="0" tIns="0" rIns="0" bIns="0" rtlCol="0" anchor="ctr"/>
          <a:lstStyle/>
          <a:p>
            <a:pPr indent="0" marL="0">
              <a:buNone/>
            </a:pPr>
            <a:r>
              <a:rPr lang="en-US" sz="1450" b="1" dirty="0">
                <a:solidFill>
                  <a:srgbClr val="1A1D29"/>
                </a:solidFill>
                <a:latin typeface="Calibri" pitchFamily="34" charset="0"/>
                <a:ea typeface="Calibri" pitchFamily="34" charset="-122"/>
                <a:cs typeface="Calibri" pitchFamily="34" charset="-120"/>
              </a:rPr>
              <a:t>“AI-native” juniors</a:t>
            </a:r>
            <a:endParaRPr lang="en-US" sz="1450" dirty="0"/>
          </a:p>
        </p:txBody>
      </p:sp>
      <p:sp>
        <p:nvSpPr>
          <p:cNvPr id="19" name="Text 14"/>
          <p:cNvSpPr/>
          <p:nvPr/>
        </p:nvSpPr>
        <p:spPr>
          <a:xfrm>
            <a:off x="8138160" y="4471416"/>
            <a:ext cx="3154680" cy="1005840"/>
          </a:xfrm>
          <a:prstGeom prst="rect">
            <a:avLst/>
          </a:prstGeom>
          <a:noFill/>
          <a:ln/>
        </p:spPr>
        <p:txBody>
          <a:bodyPr wrap="square" lIns="0" tIns="0" rIns="0" bIns="0" rtlCol="0" anchor="ctr"/>
          <a:lstStyle/>
          <a:p>
            <a:pPr indent="0" marL="0">
              <a:lnSpc>
                <a:spcPct val="120000"/>
              </a:lnSpc>
              <a:buNone/>
            </a:pPr>
            <a:r>
              <a:rPr lang="en-US" sz="1150" dirty="0">
                <a:solidFill>
                  <a:srgbClr val="4A4F66"/>
                </a:solidFill>
                <a:latin typeface="Calibri" pitchFamily="34" charset="0"/>
                <a:ea typeface="Calibri" pitchFamily="34" charset="-122"/>
                <a:cs typeface="Calibri" pitchFamily="34" charset="-120"/>
              </a:rPr>
              <a:t>Former GitHub CEO Thomas Dohmke: today’s grads grew up using these tools — a strength, not a liability.</a:t>
            </a:r>
            <a:endParaRPr lang="en-US" sz="1150" dirty="0"/>
          </a:p>
        </p:txBody>
      </p:sp>
      <p:sp>
        <p:nvSpPr>
          <p:cNvPr id="20" name="Text 15"/>
          <p:cNvSpPr/>
          <p:nvPr/>
        </p:nvSpPr>
        <p:spPr>
          <a:xfrm>
            <a:off x="11414455" y="6400800"/>
            <a:ext cx="548640" cy="274320"/>
          </a:xfrm>
          <a:prstGeom prst="rect">
            <a:avLst/>
          </a:prstGeom>
          <a:noFill/>
          <a:ln/>
        </p:spPr>
        <p:txBody>
          <a:bodyPr wrap="square" lIns="0" tIns="0" rIns="0" bIns="0" rtlCol="0" anchor="ctr"/>
          <a:lstStyle/>
          <a:p>
            <a:pPr algn="r" indent="0" marL="0">
              <a:buNone/>
            </a:pPr>
            <a:r>
              <a:rPr lang="en-US" sz="1000" dirty="0">
                <a:solidFill>
                  <a:srgbClr val="9298AC"/>
                </a:solidFill>
                <a:latin typeface="Courier New" pitchFamily="34" charset="0"/>
                <a:ea typeface="Courier New" pitchFamily="34" charset="-122"/>
                <a:cs typeface="Courier New"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315200" cy="365760"/>
          </a:xfrm>
          <a:prstGeom prst="rect">
            <a:avLst/>
          </a:prstGeom>
          <a:noFill/>
          <a:ln/>
        </p:spPr>
        <p:txBody>
          <a:bodyPr wrap="square" lIns="0" tIns="0" rIns="0" bIns="0" rtlCol="0" anchor="ctr"/>
          <a:lstStyle/>
          <a:p>
            <a:pPr indent="0" marL="0">
              <a:buNone/>
            </a:pPr>
            <a:r>
              <a:rPr lang="en-US" sz="1250" b="1" spc="300" kern="0" dirty="0">
                <a:solidFill>
                  <a:srgbClr val="2BB897"/>
                </a:solidFill>
                <a:latin typeface="Courier New" pitchFamily="34" charset="0"/>
                <a:ea typeface="Courier New" pitchFamily="34" charset="-122"/>
                <a:cs typeface="Courier New" pitchFamily="34" charset="-120"/>
              </a:rPr>
              <a:t>READING BETWEEN THE HEADLINES</a:t>
            </a:r>
            <a:endParaRPr lang="en-US" sz="1250" dirty="0"/>
          </a:p>
        </p:txBody>
      </p:sp>
      <p:sp>
        <p:nvSpPr>
          <p:cNvPr id="3" name="Text 1"/>
          <p:cNvSpPr/>
          <p:nvPr/>
        </p:nvSpPr>
        <p:spPr>
          <a:xfrm>
            <a:off x="640080" y="914400"/>
            <a:ext cx="10789920" cy="777240"/>
          </a:xfrm>
          <a:prstGeom prst="rect">
            <a:avLst/>
          </a:prstGeom>
          <a:noFill/>
          <a:ln/>
        </p:spPr>
        <p:txBody>
          <a:bodyPr wrap="square" lIns="0" tIns="0" rIns="0" bIns="0" rtlCol="0" anchor="ctr"/>
          <a:lstStyle/>
          <a:p>
            <a:pPr indent="0" marL="0">
              <a:buNone/>
            </a:pPr>
            <a:r>
              <a:rPr lang="en-US" sz="2800" b="1" dirty="0">
                <a:solidFill>
                  <a:srgbClr val="1A1D29"/>
                </a:solidFill>
                <a:latin typeface="Cambria" pitchFamily="34" charset="0"/>
                <a:ea typeface="Cambria" pitchFamily="34" charset="-122"/>
                <a:cs typeface="Cambria" pitchFamily="34" charset="-120"/>
              </a:rPr>
              <a:t>It's not just shrinking — it's reshuffling.</a:t>
            </a:r>
            <a:endParaRPr lang="en-US" sz="2800" dirty="0"/>
          </a:p>
        </p:txBody>
      </p:sp>
      <p:graphicFrame>
        <p:nvGraphicFramePr>
          <p:cNvPr id="4" name="Chart 0" descr=""/>
          <p:cNvGraphicFramePr/>
          <p:nvPr/>
        </p:nvGraphicFramePr>
        <p:xfrm>
          <a:off x="640080" y="1874520"/>
          <a:ext cx="5760720" cy="35661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766560" y="1874520"/>
            <a:ext cx="4800600" cy="3657600"/>
          </a:xfrm>
          <a:prstGeom prst="roundRect">
            <a:avLst>
              <a:gd name="adj" fmla="val 2250"/>
            </a:avLst>
          </a:prstGeom>
          <a:solidFill>
            <a:srgbClr val="12141C"/>
          </a:solidFill>
          <a:ln/>
          <a:effectLst>
            <a:outerShdw sx="100000" sy="100000" kx="0" ky="0" algn="bl" rotWithShape="0" blurRad="101600" dist="38100" dir="2700000">
              <a:srgbClr val="000000">
                <a:alpha val="16000"/>
              </a:srgbClr>
            </a:outerShdw>
          </a:effectLst>
        </p:spPr>
      </p:sp>
      <p:sp>
        <p:nvSpPr>
          <p:cNvPr id="6" name="Shape 3"/>
          <p:cNvSpPr/>
          <p:nvPr/>
        </p:nvSpPr>
        <p:spPr>
          <a:xfrm>
            <a:off x="7086600" y="2121408"/>
            <a:ext cx="530352" cy="530352"/>
          </a:xfrm>
          <a:prstGeom prst="ellipse">
            <a:avLst/>
          </a:prstGeom>
          <a:solidFill>
            <a:srgbClr val="8B7CF6"/>
          </a:solidFill>
          <a:ln/>
        </p:spPr>
      </p:sp>
      <p:pic>
        <p:nvPicPr>
          <p:cNvPr id="7" name="Image 0" descr="icons/balance_white.png">    </p:cNvPr>
          <p:cNvPicPr>
            <a:picLocks noChangeAspect="1"/>
          </p:cNvPicPr>
          <p:nvPr/>
        </p:nvPicPr>
        <p:blipFill>
          <a:blip r:embed="rId2"/>
          <a:stretch>
            <a:fillRect/>
          </a:stretch>
        </p:blipFill>
        <p:spPr>
          <a:xfrm>
            <a:off x="7171456" y="2206264"/>
            <a:ext cx="360639" cy="360639"/>
          </a:xfrm>
          <a:prstGeom prst="rect">
            <a:avLst/>
          </a:prstGeom>
        </p:spPr>
      </p:pic>
      <p:sp>
        <p:nvSpPr>
          <p:cNvPr id="8" name="Text 4"/>
          <p:cNvSpPr/>
          <p:nvPr/>
        </p:nvSpPr>
        <p:spPr>
          <a:xfrm>
            <a:off x="7086600" y="2788920"/>
            <a:ext cx="4160520" cy="36576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A possible feedback loop</a:t>
            </a:r>
            <a:endParaRPr lang="en-US" sz="1550" dirty="0"/>
          </a:p>
        </p:txBody>
      </p:sp>
      <p:sp>
        <p:nvSpPr>
          <p:cNvPr id="9" name="Shape 5"/>
          <p:cNvSpPr/>
          <p:nvPr/>
        </p:nvSpPr>
        <p:spPr>
          <a:xfrm>
            <a:off x="7086600" y="3291840"/>
            <a:ext cx="292608" cy="292608"/>
          </a:xfrm>
          <a:prstGeom prst="ellipse">
            <a:avLst/>
          </a:prstGeom>
          <a:solidFill>
            <a:srgbClr val="8B7CF6"/>
          </a:solidFill>
          <a:ln/>
        </p:spPr>
      </p:sp>
      <p:sp>
        <p:nvSpPr>
          <p:cNvPr id="10" name="Text 6"/>
          <p:cNvSpPr/>
          <p:nvPr/>
        </p:nvSpPr>
        <p:spPr>
          <a:xfrm>
            <a:off x="7086600" y="3291840"/>
            <a:ext cx="292608" cy="292608"/>
          </a:xfrm>
          <a:prstGeom prst="rect">
            <a:avLst/>
          </a:prstGeom>
          <a:noFill/>
          <a:ln/>
        </p:spPr>
        <p:txBody>
          <a:bodyPr wrap="square" lIns="0" tIns="0" rIns="0" bIns="0" rtlCol="0" anchor="ctr"/>
          <a:lstStyle/>
          <a:p>
            <a:pPr algn="ctr" indent="0" marL="0">
              <a:buNone/>
            </a:pPr>
            <a:r>
              <a:rPr lang="en-US" sz="1200" b="1" dirty="0">
                <a:solidFill>
                  <a:srgbClr val="12141C"/>
                </a:solidFill>
                <a:latin typeface="Calibri" pitchFamily="34" charset="0"/>
                <a:ea typeface="Calibri" pitchFamily="34" charset="-122"/>
                <a:cs typeface="Calibri" pitchFamily="34" charset="-120"/>
              </a:rPr>
              <a:t>1</a:t>
            </a:r>
            <a:endParaRPr lang="en-US" sz="1200" dirty="0"/>
          </a:p>
        </p:txBody>
      </p:sp>
      <p:sp>
        <p:nvSpPr>
          <p:cNvPr id="11" name="Text 7"/>
          <p:cNvSpPr/>
          <p:nvPr/>
        </p:nvSpPr>
        <p:spPr>
          <a:xfrm>
            <a:off x="7516368" y="3246120"/>
            <a:ext cx="3703320" cy="640080"/>
          </a:xfrm>
          <a:prstGeom prst="rect">
            <a:avLst/>
          </a:prstGeom>
          <a:noFill/>
          <a:ln/>
        </p:spPr>
        <p:txBody>
          <a:bodyPr wrap="square" lIns="0" tIns="0" rIns="0" bIns="0" rtlCol="0" anchor="ctr"/>
          <a:lstStyle/>
          <a:p>
            <a:pPr indent="0" marL="0">
              <a:lnSpc>
                <a:spcPct val="115000"/>
              </a:lnSpc>
              <a:buNone/>
            </a:pPr>
            <a:r>
              <a:rPr lang="en-US" sz="1250" dirty="0">
                <a:solidFill>
                  <a:srgbClr val="C7CCDC"/>
                </a:solidFill>
                <a:latin typeface="Calibri" pitchFamily="34" charset="0"/>
                <a:ea typeface="Calibri" pitchFamily="34" charset="-122"/>
                <a:cs typeface="Calibri" pitchFamily="34" charset="-120"/>
              </a:rPr>
              <a:t>Fewer entry-level openings today</a:t>
            </a:r>
            <a:endParaRPr lang="en-US" sz="1250" dirty="0"/>
          </a:p>
        </p:txBody>
      </p:sp>
      <p:sp>
        <p:nvSpPr>
          <p:cNvPr id="12" name="Shape 8"/>
          <p:cNvSpPr/>
          <p:nvPr/>
        </p:nvSpPr>
        <p:spPr>
          <a:xfrm>
            <a:off x="7086600" y="4005072"/>
            <a:ext cx="292608" cy="292608"/>
          </a:xfrm>
          <a:prstGeom prst="ellipse">
            <a:avLst/>
          </a:prstGeom>
          <a:solidFill>
            <a:srgbClr val="8B7CF6"/>
          </a:solidFill>
          <a:ln/>
        </p:spPr>
      </p:sp>
      <p:sp>
        <p:nvSpPr>
          <p:cNvPr id="13" name="Text 9"/>
          <p:cNvSpPr/>
          <p:nvPr/>
        </p:nvSpPr>
        <p:spPr>
          <a:xfrm>
            <a:off x="7086600" y="4005072"/>
            <a:ext cx="292608" cy="292608"/>
          </a:xfrm>
          <a:prstGeom prst="rect">
            <a:avLst/>
          </a:prstGeom>
          <a:noFill/>
          <a:ln/>
        </p:spPr>
        <p:txBody>
          <a:bodyPr wrap="square" lIns="0" tIns="0" rIns="0" bIns="0" rtlCol="0" anchor="ctr"/>
          <a:lstStyle/>
          <a:p>
            <a:pPr algn="ctr" indent="0" marL="0">
              <a:buNone/>
            </a:pPr>
            <a:r>
              <a:rPr lang="en-US" sz="1200" b="1" dirty="0">
                <a:solidFill>
                  <a:srgbClr val="12141C"/>
                </a:solidFill>
                <a:latin typeface="Calibri" pitchFamily="34" charset="0"/>
                <a:ea typeface="Calibri" pitchFamily="34" charset="-122"/>
                <a:cs typeface="Calibri" pitchFamily="34" charset="-120"/>
              </a:rPr>
              <a:t>2</a:t>
            </a:r>
            <a:endParaRPr lang="en-US" sz="1200" dirty="0"/>
          </a:p>
        </p:txBody>
      </p:sp>
      <p:sp>
        <p:nvSpPr>
          <p:cNvPr id="14" name="Text 10"/>
          <p:cNvSpPr/>
          <p:nvPr/>
        </p:nvSpPr>
        <p:spPr>
          <a:xfrm>
            <a:off x="7516368" y="3959352"/>
            <a:ext cx="3703320" cy="640080"/>
          </a:xfrm>
          <a:prstGeom prst="rect">
            <a:avLst/>
          </a:prstGeom>
          <a:noFill/>
          <a:ln/>
        </p:spPr>
        <p:txBody>
          <a:bodyPr wrap="square" lIns="0" tIns="0" rIns="0" bIns="0" rtlCol="0" anchor="ctr"/>
          <a:lstStyle/>
          <a:p>
            <a:pPr indent="0" marL="0">
              <a:lnSpc>
                <a:spcPct val="115000"/>
              </a:lnSpc>
              <a:buNone/>
            </a:pPr>
            <a:r>
              <a:rPr lang="en-US" sz="1250" dirty="0">
                <a:solidFill>
                  <a:srgbClr val="C7CCDC"/>
                </a:solidFill>
                <a:latin typeface="Calibri" pitchFamily="34" charset="0"/>
                <a:ea typeface="Calibri" pitchFamily="34" charset="-122"/>
                <a:cs typeface="Calibri" pitchFamily="34" charset="-120"/>
              </a:rPr>
              <a:t>may discourage students from CS degrees</a:t>
            </a:r>
            <a:endParaRPr lang="en-US" sz="1250" dirty="0"/>
          </a:p>
        </p:txBody>
      </p:sp>
      <p:sp>
        <p:nvSpPr>
          <p:cNvPr id="15" name="Shape 11"/>
          <p:cNvSpPr/>
          <p:nvPr/>
        </p:nvSpPr>
        <p:spPr>
          <a:xfrm>
            <a:off x="7086600" y="4718304"/>
            <a:ext cx="292608" cy="292608"/>
          </a:xfrm>
          <a:prstGeom prst="ellipse">
            <a:avLst/>
          </a:prstGeom>
          <a:solidFill>
            <a:srgbClr val="8B7CF6"/>
          </a:solidFill>
          <a:ln/>
        </p:spPr>
      </p:sp>
      <p:sp>
        <p:nvSpPr>
          <p:cNvPr id="16" name="Text 12"/>
          <p:cNvSpPr/>
          <p:nvPr/>
        </p:nvSpPr>
        <p:spPr>
          <a:xfrm>
            <a:off x="7086600" y="4718304"/>
            <a:ext cx="292608" cy="292608"/>
          </a:xfrm>
          <a:prstGeom prst="rect">
            <a:avLst/>
          </a:prstGeom>
          <a:noFill/>
          <a:ln/>
        </p:spPr>
        <p:txBody>
          <a:bodyPr wrap="square" lIns="0" tIns="0" rIns="0" bIns="0" rtlCol="0" anchor="ctr"/>
          <a:lstStyle/>
          <a:p>
            <a:pPr algn="ctr" indent="0" marL="0">
              <a:buNone/>
            </a:pPr>
            <a:r>
              <a:rPr lang="en-US" sz="1200" b="1" dirty="0">
                <a:solidFill>
                  <a:srgbClr val="12141C"/>
                </a:solidFill>
                <a:latin typeface="Calibri" pitchFamily="34" charset="0"/>
                <a:ea typeface="Calibri" pitchFamily="34" charset="-122"/>
                <a:cs typeface="Calibri" pitchFamily="34" charset="-120"/>
              </a:rPr>
              <a:t>3</a:t>
            </a:r>
            <a:endParaRPr lang="en-US" sz="1200" dirty="0"/>
          </a:p>
        </p:txBody>
      </p:sp>
      <p:sp>
        <p:nvSpPr>
          <p:cNvPr id="17" name="Text 13"/>
          <p:cNvSpPr/>
          <p:nvPr/>
        </p:nvSpPr>
        <p:spPr>
          <a:xfrm>
            <a:off x="7516368" y="4672584"/>
            <a:ext cx="3703320" cy="640080"/>
          </a:xfrm>
          <a:prstGeom prst="rect">
            <a:avLst/>
          </a:prstGeom>
          <a:noFill/>
          <a:ln/>
        </p:spPr>
        <p:txBody>
          <a:bodyPr wrap="square" lIns="0" tIns="0" rIns="0" bIns="0" rtlCol="0" anchor="ctr"/>
          <a:lstStyle/>
          <a:p>
            <a:pPr indent="0" marL="0">
              <a:lnSpc>
                <a:spcPct val="115000"/>
              </a:lnSpc>
              <a:buNone/>
            </a:pPr>
            <a:r>
              <a:rPr lang="en-US" sz="1250" dirty="0">
                <a:solidFill>
                  <a:srgbClr val="C7CCDC"/>
                </a:solidFill>
                <a:latin typeface="Calibri" pitchFamily="34" charset="0"/>
                <a:ea typeface="Calibri" pitchFamily="34" charset="-122"/>
                <a:cs typeface="Calibri" pitchFamily="34" charset="-120"/>
              </a:rPr>
              <a:t>which could create a senior-engineer shortage in 5–10 years</a:t>
            </a:r>
            <a:endParaRPr lang="en-US" sz="1250" dirty="0"/>
          </a:p>
        </p:txBody>
      </p:sp>
      <p:sp>
        <p:nvSpPr>
          <p:cNvPr id="18" name="Text 14"/>
          <p:cNvSpPr/>
          <p:nvPr/>
        </p:nvSpPr>
        <p:spPr>
          <a:xfrm>
            <a:off x="11414455" y="6400800"/>
            <a:ext cx="548640" cy="274320"/>
          </a:xfrm>
          <a:prstGeom prst="rect">
            <a:avLst/>
          </a:prstGeom>
          <a:noFill/>
          <a:ln/>
        </p:spPr>
        <p:txBody>
          <a:bodyPr wrap="square" lIns="0" tIns="0" rIns="0" bIns="0" rtlCol="0" anchor="ctr"/>
          <a:lstStyle/>
          <a:p>
            <a:pPr algn="r" indent="0" marL="0">
              <a:buNone/>
            </a:pPr>
            <a:r>
              <a:rPr lang="en-US" sz="1000" dirty="0">
                <a:solidFill>
                  <a:srgbClr val="4A4F66"/>
                </a:solidFill>
                <a:latin typeface="Courier New" pitchFamily="34" charset="0"/>
                <a:ea typeface="Courier New" pitchFamily="34" charset="-122"/>
                <a:cs typeface="Courier New"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640080" y="502920"/>
            <a:ext cx="7315200" cy="365760"/>
          </a:xfrm>
          <a:prstGeom prst="rect">
            <a:avLst/>
          </a:prstGeom>
          <a:noFill/>
          <a:ln/>
        </p:spPr>
        <p:txBody>
          <a:bodyPr wrap="square" lIns="0" tIns="0" rIns="0" bIns="0" rtlCol="0" anchor="ctr"/>
          <a:lstStyle/>
          <a:p>
            <a:pPr indent="0" marL="0">
              <a:buNone/>
            </a:pPr>
            <a:r>
              <a:rPr lang="en-US" sz="1250" b="1" spc="300" kern="0" dirty="0">
                <a:solidFill>
                  <a:srgbClr val="7DF9C1"/>
                </a:solidFill>
                <a:latin typeface="Courier New" pitchFamily="34" charset="0"/>
                <a:ea typeface="Courier New" pitchFamily="34" charset="-122"/>
                <a:cs typeface="Courier New" pitchFamily="34" charset="-120"/>
              </a:rPr>
              <a:t>WHAT IT MEANS FOR US</a:t>
            </a:r>
            <a:endParaRPr lang="en-US" sz="1250" dirty="0"/>
          </a:p>
        </p:txBody>
      </p:sp>
      <p:sp>
        <p:nvSpPr>
          <p:cNvPr id="3" name="Text 1"/>
          <p:cNvSpPr/>
          <p:nvPr/>
        </p:nvSpPr>
        <p:spPr>
          <a:xfrm>
            <a:off x="640080" y="914400"/>
            <a:ext cx="10789920" cy="7772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bar moved. It didn't disappear.</a:t>
            </a:r>
            <a:endParaRPr lang="en-US" sz="3000" dirty="0"/>
          </a:p>
        </p:txBody>
      </p:sp>
      <p:sp>
        <p:nvSpPr>
          <p:cNvPr id="4" name="Shape 2"/>
          <p:cNvSpPr/>
          <p:nvPr/>
        </p:nvSpPr>
        <p:spPr>
          <a:xfrm>
            <a:off x="640080" y="1874520"/>
            <a:ext cx="4937760" cy="3840480"/>
          </a:xfrm>
          <a:prstGeom prst="roundRect">
            <a:avLst>
              <a:gd name="adj" fmla="val 2143"/>
            </a:avLst>
          </a:prstGeom>
          <a:solidFill>
            <a:srgbClr val="1A1D29"/>
          </a:solidFill>
          <a:ln/>
          <a:effectLst>
            <a:outerShdw sx="100000" sy="100000" kx="0" ky="0" algn="bl" rotWithShape="0" blurRad="114300" dist="38100" dir="2700000">
              <a:srgbClr val="000000">
                <a:alpha val="20000"/>
              </a:srgbClr>
            </a:outerShdw>
          </a:effectLst>
        </p:spPr>
      </p:sp>
      <p:sp>
        <p:nvSpPr>
          <p:cNvPr id="5" name="Text 3"/>
          <p:cNvSpPr/>
          <p:nvPr/>
        </p:nvSpPr>
        <p:spPr>
          <a:xfrm>
            <a:off x="1005840" y="2148840"/>
            <a:ext cx="4206240" cy="320040"/>
          </a:xfrm>
          <a:prstGeom prst="rect">
            <a:avLst/>
          </a:prstGeom>
          <a:noFill/>
          <a:ln/>
        </p:spPr>
        <p:txBody>
          <a:bodyPr wrap="square" lIns="0" tIns="0" rIns="0" bIns="0" rtlCol="0" anchor="ctr"/>
          <a:lstStyle/>
          <a:p>
            <a:pPr indent="0" marL="0">
              <a:buNone/>
            </a:pPr>
            <a:r>
              <a:rPr lang="en-US" sz="1100" b="1" spc="150" kern="0" dirty="0">
                <a:solidFill>
                  <a:srgbClr val="7DF9C1"/>
                </a:solidFill>
                <a:latin typeface="Courier New" pitchFamily="34" charset="0"/>
                <a:ea typeface="Courier New" pitchFamily="34" charset="-122"/>
                <a:cs typeface="Courier New" pitchFamily="34" charset="-120"/>
              </a:rPr>
              <a:t>AI SKILLS IN JOB POSTINGS</a:t>
            </a:r>
            <a:endParaRPr lang="en-US" sz="1100" dirty="0"/>
          </a:p>
        </p:txBody>
      </p:sp>
      <p:sp>
        <p:nvSpPr>
          <p:cNvPr id="6" name="Text 4"/>
          <p:cNvSpPr/>
          <p:nvPr/>
        </p:nvSpPr>
        <p:spPr>
          <a:xfrm>
            <a:off x="1005840" y="2468880"/>
            <a:ext cx="4206240" cy="1188720"/>
          </a:xfrm>
          <a:prstGeom prst="rect">
            <a:avLst/>
          </a:prstGeom>
          <a:noFill/>
          <a:ln/>
        </p:spPr>
        <p:txBody>
          <a:bodyPr wrap="square" lIns="0" tIns="0" rIns="0" bIns="0" rtlCol="0" anchor="ctr"/>
          <a:lstStyle/>
          <a:p>
            <a:pPr indent="0" marL="0">
              <a:buNone/>
            </a:pPr>
            <a:r>
              <a:rPr lang="en-US" sz="4600" b="1" strike="sngStrike" dirty="0">
                <a:solidFill>
                  <a:srgbClr val="9298AC"/>
                </a:solidFill>
                <a:latin typeface="Cambria" pitchFamily="34" charset="0"/>
                <a:ea typeface="Cambria" pitchFamily="34" charset="-122"/>
                <a:cs typeface="Cambria" pitchFamily="34" charset="-120"/>
              </a:rPr>
              <a:t>8% </a:t>
            </a:r>
            <a:pPr indent="0" marL="0">
              <a:buNone/>
            </a:pPr>
            <a:r>
              <a:rPr lang="en-US" sz="4600" b="1" dirty="0">
                <a:solidFill>
                  <a:srgbClr val="9298AC"/>
                </a:solidFill>
                <a:latin typeface="Cambria" pitchFamily="34" charset="0"/>
                <a:ea typeface="Cambria" pitchFamily="34" charset="-122"/>
                <a:cs typeface="Cambria" pitchFamily="34" charset="-120"/>
              </a:rPr>
              <a:t> →  </a:t>
            </a:r>
            <a:pPr indent="0" marL="0">
              <a:buNone/>
            </a:pPr>
            <a:r>
              <a:rPr lang="en-US" sz="4600" b="1" dirty="0">
                <a:solidFill>
                  <a:srgbClr val="7DF9C1"/>
                </a:solidFill>
                <a:latin typeface="Cambria" pitchFamily="34" charset="0"/>
                <a:ea typeface="Cambria" pitchFamily="34" charset="-122"/>
                <a:cs typeface="Cambria" pitchFamily="34" charset="-120"/>
              </a:rPr>
              <a:t>42%</a:t>
            </a:r>
            <a:endParaRPr lang="en-US" sz="4600" dirty="0"/>
          </a:p>
        </p:txBody>
      </p:sp>
      <p:sp>
        <p:nvSpPr>
          <p:cNvPr id="7" name="Text 5"/>
          <p:cNvSpPr/>
          <p:nvPr/>
        </p:nvSpPr>
        <p:spPr>
          <a:xfrm>
            <a:off x="1005840" y="3246120"/>
            <a:ext cx="1097280" cy="274320"/>
          </a:xfrm>
          <a:prstGeom prst="rect">
            <a:avLst/>
          </a:prstGeom>
          <a:noFill/>
          <a:ln/>
        </p:spPr>
        <p:txBody>
          <a:bodyPr wrap="square" lIns="0" tIns="0" rIns="0" bIns="0" rtlCol="0" anchor="ctr"/>
          <a:lstStyle/>
          <a:p>
            <a:pPr indent="0" marL="0">
              <a:buNone/>
            </a:pPr>
            <a:r>
              <a:rPr lang="en-US" sz="1100" dirty="0">
                <a:solidFill>
                  <a:srgbClr val="9298AC"/>
                </a:solidFill>
                <a:latin typeface="Calibri" pitchFamily="34" charset="0"/>
                <a:ea typeface="Calibri" pitchFamily="34" charset="-122"/>
                <a:cs typeface="Calibri" pitchFamily="34" charset="-120"/>
              </a:rPr>
              <a:t>2022</a:t>
            </a:r>
            <a:endParaRPr lang="en-US" sz="1100" dirty="0"/>
          </a:p>
        </p:txBody>
      </p:sp>
      <p:sp>
        <p:nvSpPr>
          <p:cNvPr id="8" name="Text 6"/>
          <p:cNvSpPr/>
          <p:nvPr/>
        </p:nvSpPr>
        <p:spPr>
          <a:xfrm>
            <a:off x="2971800" y="3246120"/>
            <a:ext cx="1097280" cy="274320"/>
          </a:xfrm>
          <a:prstGeom prst="rect">
            <a:avLst/>
          </a:prstGeom>
          <a:noFill/>
          <a:ln/>
        </p:spPr>
        <p:txBody>
          <a:bodyPr wrap="square" lIns="0" tIns="0" rIns="0" bIns="0" rtlCol="0" anchor="ctr"/>
          <a:lstStyle/>
          <a:p>
            <a:pPr indent="0" marL="0">
              <a:buNone/>
            </a:pPr>
            <a:r>
              <a:rPr lang="en-US" sz="1100" dirty="0">
                <a:solidFill>
                  <a:srgbClr val="7DF9C1"/>
                </a:solidFill>
                <a:latin typeface="Calibri" pitchFamily="34" charset="0"/>
                <a:ea typeface="Calibri" pitchFamily="34" charset="-122"/>
                <a:cs typeface="Calibri" pitchFamily="34" charset="-120"/>
              </a:rPr>
              <a:t>2026</a:t>
            </a:r>
            <a:endParaRPr lang="en-US" sz="1100" dirty="0"/>
          </a:p>
        </p:txBody>
      </p:sp>
      <p:sp>
        <p:nvSpPr>
          <p:cNvPr id="9" name="Text 7"/>
          <p:cNvSpPr/>
          <p:nvPr/>
        </p:nvSpPr>
        <p:spPr>
          <a:xfrm>
            <a:off x="1005840" y="3794760"/>
            <a:ext cx="4206240" cy="822960"/>
          </a:xfrm>
          <a:prstGeom prst="rect">
            <a:avLst/>
          </a:prstGeom>
          <a:noFill/>
          <a:ln/>
        </p:spPr>
        <p:txBody>
          <a:bodyPr wrap="square" lIns="0" tIns="0" rIns="0" bIns="0" rtlCol="0" anchor="ctr"/>
          <a:lstStyle/>
          <a:p>
            <a:pPr indent="0" marL="0">
              <a:lnSpc>
                <a:spcPct val="125000"/>
              </a:lnSpc>
              <a:buNone/>
            </a:pPr>
            <a:r>
              <a:rPr lang="en-US" sz="1400" dirty="0">
                <a:solidFill>
                  <a:srgbClr val="C7CCDC"/>
                </a:solidFill>
                <a:latin typeface="Calibri" pitchFamily="34" charset="0"/>
                <a:ea typeface="Calibri" pitchFamily="34" charset="-122"/>
                <a:cs typeface="Calibri" pitchFamily="34" charset="-120"/>
              </a:rPr>
              <a:t>AI fluency has gone from a nice-to-have to a baseline expectation in software job postings.</a:t>
            </a:r>
            <a:endParaRPr lang="en-US" sz="1400" dirty="0"/>
          </a:p>
        </p:txBody>
      </p:sp>
      <p:sp>
        <p:nvSpPr>
          <p:cNvPr id="10" name="Text 8"/>
          <p:cNvSpPr/>
          <p:nvPr/>
        </p:nvSpPr>
        <p:spPr>
          <a:xfrm>
            <a:off x="1005840" y="5349240"/>
            <a:ext cx="4206240" cy="274320"/>
          </a:xfrm>
          <a:prstGeom prst="rect">
            <a:avLst/>
          </a:prstGeom>
          <a:noFill/>
          <a:ln/>
        </p:spPr>
        <p:txBody>
          <a:bodyPr wrap="square" lIns="0" tIns="0" rIns="0" bIns="0" rtlCol="0" anchor="ctr"/>
          <a:lstStyle/>
          <a:p>
            <a:pPr indent="0" marL="0">
              <a:buNone/>
            </a:pPr>
            <a:r>
              <a:rPr lang="en-US" sz="1050" i="1" dirty="0">
                <a:solidFill>
                  <a:srgbClr val="9298AC"/>
                </a:solidFill>
                <a:latin typeface="Calibri" pitchFamily="34" charset="0"/>
                <a:ea typeface="Calibri" pitchFamily="34" charset="-122"/>
                <a:cs typeface="Calibri" pitchFamily="34" charset="-120"/>
              </a:rPr>
              <a:t>LinkedIn 2025 Workforce Report</a:t>
            </a:r>
            <a:endParaRPr lang="en-US" sz="1050" dirty="0"/>
          </a:p>
        </p:txBody>
      </p:sp>
      <p:sp>
        <p:nvSpPr>
          <p:cNvPr id="11" name="Text 9"/>
          <p:cNvSpPr/>
          <p:nvPr/>
        </p:nvSpPr>
        <p:spPr>
          <a:xfrm>
            <a:off x="5989320" y="1874520"/>
            <a:ext cx="557784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What's actually valued now</a:t>
            </a:r>
            <a:endParaRPr lang="en-US" sz="1600" dirty="0"/>
          </a:p>
        </p:txBody>
      </p:sp>
      <p:sp>
        <p:nvSpPr>
          <p:cNvPr id="12" name="Shape 10"/>
          <p:cNvSpPr/>
          <p:nvPr/>
        </p:nvSpPr>
        <p:spPr>
          <a:xfrm>
            <a:off x="5989320" y="2423160"/>
            <a:ext cx="502920" cy="502920"/>
          </a:xfrm>
          <a:prstGeom prst="ellipse">
            <a:avLst/>
          </a:prstGeom>
          <a:solidFill>
            <a:srgbClr val="7DF9C1"/>
          </a:solidFill>
          <a:ln/>
        </p:spPr>
      </p:sp>
      <p:pic>
        <p:nvPicPr>
          <p:cNvPr id="13" name="Image 0" descr="icons/check_white.png">    </p:cNvPr>
          <p:cNvPicPr>
            <a:picLocks noChangeAspect="1"/>
          </p:cNvPicPr>
          <p:nvPr/>
        </p:nvPicPr>
        <p:blipFill>
          <a:blip r:embed="rId1"/>
          <a:stretch>
            <a:fillRect/>
          </a:stretch>
        </p:blipFill>
        <p:spPr>
          <a:xfrm>
            <a:off x="6069787" y="2503627"/>
            <a:ext cx="341986" cy="341986"/>
          </a:xfrm>
          <a:prstGeom prst="rect">
            <a:avLst/>
          </a:prstGeom>
        </p:spPr>
      </p:pic>
      <p:sp>
        <p:nvSpPr>
          <p:cNvPr id="14" name="Text 11"/>
          <p:cNvSpPr/>
          <p:nvPr/>
        </p:nvSpPr>
        <p:spPr>
          <a:xfrm>
            <a:off x="6702552" y="2423160"/>
            <a:ext cx="4846320" cy="502920"/>
          </a:xfrm>
          <a:prstGeom prst="rect">
            <a:avLst/>
          </a:prstGeom>
          <a:noFill/>
          <a:ln/>
        </p:spPr>
        <p:txBody>
          <a:bodyPr wrap="square" lIns="0" tIns="0" rIns="0" bIns="0" rtlCol="0" anchor="ctr"/>
          <a:lstStyle/>
          <a:p>
            <a:pPr indent="0" marL="0">
              <a:buNone/>
            </a:pPr>
            <a:r>
              <a:rPr lang="en-US" sz="1450" dirty="0">
                <a:solidFill>
                  <a:srgbClr val="EDEFF7"/>
                </a:solidFill>
                <a:latin typeface="Calibri" pitchFamily="34" charset="0"/>
                <a:ea typeface="Calibri" pitchFamily="34" charset="-122"/>
                <a:cs typeface="Calibri" pitchFamily="34" charset="-120"/>
              </a:rPr>
              <a:t>Reviewing &amp; validating AI-generated code</a:t>
            </a:r>
            <a:endParaRPr lang="en-US" sz="1450" dirty="0"/>
          </a:p>
        </p:txBody>
      </p:sp>
      <p:sp>
        <p:nvSpPr>
          <p:cNvPr id="15" name="Shape 12"/>
          <p:cNvSpPr/>
          <p:nvPr/>
        </p:nvSpPr>
        <p:spPr>
          <a:xfrm>
            <a:off x="5989320" y="3200400"/>
            <a:ext cx="502920" cy="502920"/>
          </a:xfrm>
          <a:prstGeom prst="ellipse">
            <a:avLst/>
          </a:prstGeom>
          <a:solidFill>
            <a:srgbClr val="8B7CF6"/>
          </a:solidFill>
          <a:ln/>
        </p:spPr>
      </p:sp>
      <p:pic>
        <p:nvPicPr>
          <p:cNvPr id="16" name="Image 1" descr="icons/brain_white.png">    </p:cNvPr>
          <p:cNvPicPr>
            <a:picLocks noChangeAspect="1"/>
          </p:cNvPicPr>
          <p:nvPr/>
        </p:nvPicPr>
        <p:blipFill>
          <a:blip r:embed="rId2"/>
          <a:stretch>
            <a:fillRect/>
          </a:stretch>
        </p:blipFill>
        <p:spPr>
          <a:xfrm>
            <a:off x="6069787" y="3280867"/>
            <a:ext cx="341986" cy="341986"/>
          </a:xfrm>
          <a:prstGeom prst="rect">
            <a:avLst/>
          </a:prstGeom>
        </p:spPr>
      </p:pic>
      <p:sp>
        <p:nvSpPr>
          <p:cNvPr id="17" name="Text 13"/>
          <p:cNvSpPr/>
          <p:nvPr/>
        </p:nvSpPr>
        <p:spPr>
          <a:xfrm>
            <a:off x="6702552" y="3200400"/>
            <a:ext cx="4846320" cy="502920"/>
          </a:xfrm>
          <a:prstGeom prst="rect">
            <a:avLst/>
          </a:prstGeom>
          <a:noFill/>
          <a:ln/>
        </p:spPr>
        <p:txBody>
          <a:bodyPr wrap="square" lIns="0" tIns="0" rIns="0" bIns="0" rtlCol="0" anchor="ctr"/>
          <a:lstStyle/>
          <a:p>
            <a:pPr indent="0" marL="0">
              <a:buNone/>
            </a:pPr>
            <a:r>
              <a:rPr lang="en-US" sz="1450" dirty="0">
                <a:solidFill>
                  <a:srgbClr val="EDEFF7"/>
                </a:solidFill>
                <a:latin typeface="Calibri" pitchFamily="34" charset="0"/>
                <a:ea typeface="Calibri" pitchFamily="34" charset="-122"/>
                <a:cs typeface="Calibri" pitchFamily="34" charset="-120"/>
              </a:rPr>
              <a:t>Directing AI tools with clear judgment</a:t>
            </a:r>
            <a:endParaRPr lang="en-US" sz="1450" dirty="0"/>
          </a:p>
        </p:txBody>
      </p:sp>
      <p:sp>
        <p:nvSpPr>
          <p:cNvPr id="18" name="Shape 14"/>
          <p:cNvSpPr/>
          <p:nvPr/>
        </p:nvSpPr>
        <p:spPr>
          <a:xfrm>
            <a:off x="5989320" y="3977640"/>
            <a:ext cx="502920" cy="502920"/>
          </a:xfrm>
          <a:prstGeom prst="ellipse">
            <a:avLst/>
          </a:prstGeom>
          <a:solidFill>
            <a:srgbClr val="7DF9C1"/>
          </a:solidFill>
          <a:ln/>
        </p:spPr>
      </p:sp>
      <p:pic>
        <p:nvPicPr>
          <p:cNvPr id="19" name="Image 2" descr="icons/code_white.png">    </p:cNvPr>
          <p:cNvPicPr>
            <a:picLocks noChangeAspect="1"/>
          </p:cNvPicPr>
          <p:nvPr/>
        </p:nvPicPr>
        <p:blipFill>
          <a:blip r:embed="rId3"/>
          <a:stretch>
            <a:fillRect/>
          </a:stretch>
        </p:blipFill>
        <p:spPr>
          <a:xfrm>
            <a:off x="6069787" y="4058107"/>
            <a:ext cx="341986" cy="341986"/>
          </a:xfrm>
          <a:prstGeom prst="rect">
            <a:avLst/>
          </a:prstGeom>
        </p:spPr>
      </p:pic>
      <p:sp>
        <p:nvSpPr>
          <p:cNvPr id="20" name="Text 15"/>
          <p:cNvSpPr/>
          <p:nvPr/>
        </p:nvSpPr>
        <p:spPr>
          <a:xfrm>
            <a:off x="6702552" y="3977640"/>
            <a:ext cx="4846320" cy="502920"/>
          </a:xfrm>
          <a:prstGeom prst="rect">
            <a:avLst/>
          </a:prstGeom>
          <a:noFill/>
          <a:ln/>
        </p:spPr>
        <p:txBody>
          <a:bodyPr wrap="square" lIns="0" tIns="0" rIns="0" bIns="0" rtlCol="0" anchor="ctr"/>
          <a:lstStyle/>
          <a:p>
            <a:pPr indent="0" marL="0">
              <a:buNone/>
            </a:pPr>
            <a:r>
              <a:rPr lang="en-US" sz="1450" dirty="0">
                <a:solidFill>
                  <a:srgbClr val="EDEFF7"/>
                </a:solidFill>
                <a:latin typeface="Calibri" pitchFamily="34" charset="0"/>
                <a:ea typeface="Calibri" pitchFamily="34" charset="-122"/>
                <a:cs typeface="Calibri" pitchFamily="34" charset="-120"/>
              </a:rPr>
              <a:t>Explaining why code works — not just producing it</a:t>
            </a:r>
            <a:endParaRPr lang="en-US" sz="1450" dirty="0"/>
          </a:p>
        </p:txBody>
      </p:sp>
      <p:sp>
        <p:nvSpPr>
          <p:cNvPr id="21" name="Shape 16"/>
          <p:cNvSpPr/>
          <p:nvPr/>
        </p:nvSpPr>
        <p:spPr>
          <a:xfrm>
            <a:off x="5989320" y="4754880"/>
            <a:ext cx="502920" cy="502920"/>
          </a:xfrm>
          <a:prstGeom prst="ellipse">
            <a:avLst/>
          </a:prstGeom>
          <a:solidFill>
            <a:srgbClr val="8B7CF6"/>
          </a:solidFill>
          <a:ln/>
        </p:spPr>
      </p:sp>
      <p:pic>
        <p:nvPicPr>
          <p:cNvPr id="22" name="Image 3" descr="icons/layers_white.png">    </p:cNvPr>
          <p:cNvPicPr>
            <a:picLocks noChangeAspect="1"/>
          </p:cNvPicPr>
          <p:nvPr/>
        </p:nvPicPr>
        <p:blipFill>
          <a:blip r:embed="rId4"/>
          <a:stretch>
            <a:fillRect/>
          </a:stretch>
        </p:blipFill>
        <p:spPr>
          <a:xfrm>
            <a:off x="6069787" y="4835347"/>
            <a:ext cx="341986" cy="341986"/>
          </a:xfrm>
          <a:prstGeom prst="rect">
            <a:avLst/>
          </a:prstGeom>
        </p:spPr>
      </p:pic>
      <p:sp>
        <p:nvSpPr>
          <p:cNvPr id="23" name="Text 17"/>
          <p:cNvSpPr/>
          <p:nvPr/>
        </p:nvSpPr>
        <p:spPr>
          <a:xfrm>
            <a:off x="6702552" y="4754880"/>
            <a:ext cx="4846320" cy="502920"/>
          </a:xfrm>
          <a:prstGeom prst="rect">
            <a:avLst/>
          </a:prstGeom>
          <a:noFill/>
          <a:ln/>
        </p:spPr>
        <p:txBody>
          <a:bodyPr wrap="square" lIns="0" tIns="0" rIns="0" bIns="0" rtlCol="0" anchor="ctr"/>
          <a:lstStyle/>
          <a:p>
            <a:pPr indent="0" marL="0">
              <a:buNone/>
            </a:pPr>
            <a:r>
              <a:rPr lang="en-US" sz="1450" dirty="0">
                <a:solidFill>
                  <a:srgbClr val="EDEFF7"/>
                </a:solidFill>
                <a:latin typeface="Calibri" pitchFamily="34" charset="0"/>
                <a:ea typeface="Calibri" pitchFamily="34" charset="-122"/>
                <a:cs typeface="Calibri" pitchFamily="34" charset="-120"/>
              </a:rPr>
              <a:t>Understanding system design, not just syntax</a:t>
            </a:r>
            <a:endParaRPr lang="en-US" sz="1450" dirty="0"/>
          </a:p>
        </p:txBody>
      </p:sp>
      <p:sp>
        <p:nvSpPr>
          <p:cNvPr id="24" name="Text 18"/>
          <p:cNvSpPr/>
          <p:nvPr/>
        </p:nvSpPr>
        <p:spPr>
          <a:xfrm>
            <a:off x="11414455" y="6400800"/>
            <a:ext cx="548640" cy="274320"/>
          </a:xfrm>
          <a:prstGeom prst="rect">
            <a:avLst/>
          </a:prstGeom>
          <a:noFill/>
          <a:ln/>
        </p:spPr>
        <p:txBody>
          <a:bodyPr wrap="square" lIns="0" tIns="0" rIns="0" bIns="0" rtlCol="0" anchor="ctr"/>
          <a:lstStyle/>
          <a:p>
            <a:pPr algn="r" indent="0" marL="0">
              <a:buNone/>
            </a:pPr>
            <a:r>
              <a:rPr lang="en-US" sz="1000" dirty="0">
                <a:solidFill>
                  <a:srgbClr val="9298AC"/>
                </a:solidFill>
                <a:latin typeface="Courier New" pitchFamily="34" charset="0"/>
                <a:ea typeface="Courier New" pitchFamily="34" charset="-122"/>
                <a:cs typeface="Courier New"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7315200" cy="365760"/>
          </a:xfrm>
          <a:prstGeom prst="rect">
            <a:avLst/>
          </a:prstGeom>
          <a:noFill/>
          <a:ln/>
        </p:spPr>
        <p:txBody>
          <a:bodyPr wrap="square" lIns="0" tIns="0" rIns="0" bIns="0" rtlCol="0" anchor="ctr"/>
          <a:lstStyle/>
          <a:p>
            <a:pPr indent="0" marL="0">
              <a:buNone/>
            </a:pPr>
            <a:r>
              <a:rPr lang="en-US" sz="1250" b="1" spc="300" kern="0" dirty="0">
                <a:solidFill>
                  <a:srgbClr val="2BB897"/>
                </a:solidFill>
                <a:latin typeface="Courier New" pitchFamily="34" charset="0"/>
                <a:ea typeface="Courier New" pitchFamily="34" charset="-122"/>
                <a:cs typeface="Courier New" pitchFamily="34" charset="-120"/>
              </a:rPr>
              <a:t>CONCLUSION</a:t>
            </a:r>
            <a:endParaRPr lang="en-US" sz="1250" dirty="0"/>
          </a:p>
        </p:txBody>
      </p:sp>
      <p:sp>
        <p:nvSpPr>
          <p:cNvPr id="3" name="Text 1"/>
          <p:cNvSpPr/>
          <p:nvPr/>
        </p:nvSpPr>
        <p:spPr>
          <a:xfrm>
            <a:off x="640080" y="914400"/>
            <a:ext cx="10789920" cy="777240"/>
          </a:xfrm>
          <a:prstGeom prst="rect">
            <a:avLst/>
          </a:prstGeom>
          <a:noFill/>
          <a:ln/>
        </p:spPr>
        <p:txBody>
          <a:bodyPr wrap="square" lIns="0" tIns="0" rIns="0" bIns="0" rtlCol="0" anchor="ctr"/>
          <a:lstStyle/>
          <a:p>
            <a:pPr indent="0" marL="0">
              <a:buNone/>
            </a:pPr>
            <a:r>
              <a:rPr lang="en-US" sz="3000" b="1" dirty="0">
                <a:solidFill>
                  <a:srgbClr val="1A1D29"/>
                </a:solidFill>
                <a:latin typeface="Cambria" pitchFamily="34" charset="0"/>
                <a:ea typeface="Cambria" pitchFamily="34" charset="-122"/>
                <a:cs typeface="Cambria" pitchFamily="34" charset="-120"/>
              </a:rPr>
              <a:t>Not a side trend. Already the job.</a:t>
            </a:r>
            <a:endParaRPr lang="en-US" sz="3000" dirty="0"/>
          </a:p>
        </p:txBody>
      </p:sp>
      <p:sp>
        <p:nvSpPr>
          <p:cNvPr id="4" name="Text 2"/>
          <p:cNvSpPr/>
          <p:nvPr/>
        </p:nvSpPr>
        <p:spPr>
          <a:xfrm>
            <a:off x="640080" y="1783080"/>
            <a:ext cx="6126480" cy="1737360"/>
          </a:xfrm>
          <a:prstGeom prst="rect">
            <a:avLst/>
          </a:prstGeom>
          <a:noFill/>
          <a:ln/>
        </p:spPr>
        <p:txBody>
          <a:bodyPr wrap="square" lIns="0" tIns="0" rIns="0" bIns="0" rtlCol="0" anchor="ctr"/>
          <a:lstStyle/>
          <a:p>
            <a:pPr indent="0" marL="0">
              <a:lnSpc>
                <a:spcPct val="130000"/>
              </a:lnSpc>
              <a:buNone/>
            </a:pPr>
            <a:r>
              <a:rPr lang="en-US" sz="1600" dirty="0">
                <a:solidFill>
                  <a:srgbClr val="4A4F66"/>
                </a:solidFill>
                <a:latin typeface="Calibri" pitchFamily="34" charset="0"/>
                <a:ea typeface="Calibri" pitchFamily="34" charset="-122"/>
                <a:cs typeface="Calibri" pitchFamily="34" charset="-120"/>
              </a:rPr>
              <a:t>The debate over junior hiring is real, and it's still playing out across the industry. But the lesson holds either way: learning to work with AI tools — not just around them — is quickly becoming a core part of the job description itself.</a:t>
            </a:r>
            <a:endParaRPr lang="en-US" sz="1600" dirty="0"/>
          </a:p>
        </p:txBody>
      </p:sp>
      <p:sp>
        <p:nvSpPr>
          <p:cNvPr id="5" name="Shape 3"/>
          <p:cNvSpPr/>
          <p:nvPr/>
        </p:nvSpPr>
        <p:spPr>
          <a:xfrm>
            <a:off x="640080" y="3657600"/>
            <a:ext cx="6126480" cy="868680"/>
          </a:xfrm>
          <a:prstGeom prst="roundRect">
            <a:avLst>
              <a:gd name="adj" fmla="val 8421"/>
            </a:avLst>
          </a:prstGeom>
          <a:solidFill>
            <a:srgbClr val="F5F6FA"/>
          </a:solidFill>
          <a:ln/>
          <a:effectLst>
            <a:outerShdw sx="100000" sy="100000" kx="0" ky="0" algn="bl" rotWithShape="0" blurRad="88900" dist="38100" dir="2700000">
              <a:srgbClr val="000000">
                <a:alpha val="7000"/>
              </a:srgbClr>
            </a:outerShdw>
          </a:effectLst>
        </p:spPr>
      </p:sp>
      <p:sp>
        <p:nvSpPr>
          <p:cNvPr id="6" name="Shape 4"/>
          <p:cNvSpPr/>
          <p:nvPr/>
        </p:nvSpPr>
        <p:spPr>
          <a:xfrm>
            <a:off x="841248" y="3840480"/>
            <a:ext cx="502920" cy="502920"/>
          </a:xfrm>
          <a:prstGeom prst="ellipse">
            <a:avLst/>
          </a:prstGeom>
          <a:solidFill>
            <a:srgbClr val="2BB897"/>
          </a:solidFill>
          <a:ln/>
        </p:spPr>
      </p:sp>
      <p:pic>
        <p:nvPicPr>
          <p:cNvPr id="7" name="Image 0" descr="icons/rocket_white.png">    </p:cNvPr>
          <p:cNvPicPr>
            <a:picLocks noChangeAspect="1"/>
          </p:cNvPicPr>
          <p:nvPr/>
        </p:nvPicPr>
        <p:blipFill>
          <a:blip r:embed="rId1"/>
          <a:stretch>
            <a:fillRect/>
          </a:stretch>
        </p:blipFill>
        <p:spPr>
          <a:xfrm>
            <a:off x="921715" y="3920947"/>
            <a:ext cx="341986" cy="341986"/>
          </a:xfrm>
          <a:prstGeom prst="rect">
            <a:avLst/>
          </a:prstGeom>
        </p:spPr>
      </p:pic>
      <p:sp>
        <p:nvSpPr>
          <p:cNvPr id="8" name="Text 5"/>
          <p:cNvSpPr/>
          <p:nvPr/>
        </p:nvSpPr>
        <p:spPr>
          <a:xfrm>
            <a:off x="1508760" y="3776472"/>
            <a:ext cx="5212080" cy="274320"/>
          </a:xfrm>
          <a:prstGeom prst="rect">
            <a:avLst/>
          </a:prstGeom>
          <a:noFill/>
          <a:ln/>
        </p:spPr>
        <p:txBody>
          <a:bodyPr wrap="square" lIns="0" tIns="0" rIns="0" bIns="0" rtlCol="0" anchor="ctr"/>
          <a:lstStyle/>
          <a:p>
            <a:pPr indent="0" marL="0">
              <a:buNone/>
            </a:pPr>
            <a:r>
              <a:rPr lang="en-US" sz="950" b="1" spc="120" kern="0" dirty="0">
                <a:solidFill>
                  <a:srgbClr val="2BB897"/>
                </a:solidFill>
                <a:latin typeface="Courier New" pitchFamily="34" charset="0"/>
                <a:ea typeface="Courier New" pitchFamily="34" charset="-122"/>
                <a:cs typeface="Courier New" pitchFamily="34" charset="-120"/>
              </a:rPr>
              <a:t>THE TOOLS</a:t>
            </a:r>
            <a:endParaRPr lang="en-US" sz="950" dirty="0"/>
          </a:p>
        </p:txBody>
      </p:sp>
      <p:sp>
        <p:nvSpPr>
          <p:cNvPr id="9" name="Text 6"/>
          <p:cNvSpPr/>
          <p:nvPr/>
        </p:nvSpPr>
        <p:spPr>
          <a:xfrm>
            <a:off x="1508760" y="4041648"/>
            <a:ext cx="5212080" cy="457200"/>
          </a:xfrm>
          <a:prstGeom prst="rect">
            <a:avLst/>
          </a:prstGeom>
          <a:noFill/>
          <a:ln/>
        </p:spPr>
        <p:txBody>
          <a:bodyPr wrap="square" lIns="0" tIns="0" rIns="0" bIns="0" rtlCol="0" anchor="ctr"/>
          <a:lstStyle/>
          <a:p>
            <a:pPr indent="0" marL="0">
              <a:lnSpc>
                <a:spcPct val="110000"/>
              </a:lnSpc>
              <a:buNone/>
            </a:pPr>
            <a:r>
              <a:rPr lang="en-US" sz="1250" dirty="0">
                <a:solidFill>
                  <a:srgbClr val="1A1D29"/>
                </a:solidFill>
                <a:latin typeface="Calibri" pitchFamily="34" charset="0"/>
                <a:ea typeface="Calibri" pitchFamily="34" charset="-122"/>
                <a:cs typeface="Calibri" pitchFamily="34" charset="-120"/>
              </a:rPr>
              <a:t>Real, measured productivity gains — not the 10x hype.</a:t>
            </a:r>
            <a:endParaRPr lang="en-US" sz="1250" dirty="0"/>
          </a:p>
        </p:txBody>
      </p:sp>
      <p:sp>
        <p:nvSpPr>
          <p:cNvPr id="10" name="Shape 7"/>
          <p:cNvSpPr/>
          <p:nvPr/>
        </p:nvSpPr>
        <p:spPr>
          <a:xfrm>
            <a:off x="640080" y="4727448"/>
            <a:ext cx="6126480" cy="868680"/>
          </a:xfrm>
          <a:prstGeom prst="roundRect">
            <a:avLst>
              <a:gd name="adj" fmla="val 8421"/>
            </a:avLst>
          </a:prstGeom>
          <a:solidFill>
            <a:srgbClr val="F5F6FA"/>
          </a:solidFill>
          <a:ln/>
          <a:effectLst>
            <a:outerShdw sx="100000" sy="100000" kx="0" ky="0" algn="bl" rotWithShape="0" blurRad="88900" dist="38100" dir="2700000">
              <a:srgbClr val="000000">
                <a:alpha val="7000"/>
              </a:srgbClr>
            </a:outerShdw>
          </a:effectLst>
        </p:spPr>
      </p:sp>
      <p:sp>
        <p:nvSpPr>
          <p:cNvPr id="11" name="Shape 8"/>
          <p:cNvSpPr/>
          <p:nvPr/>
        </p:nvSpPr>
        <p:spPr>
          <a:xfrm>
            <a:off x="841248" y="4910328"/>
            <a:ext cx="502920" cy="502920"/>
          </a:xfrm>
          <a:prstGeom prst="ellipse">
            <a:avLst/>
          </a:prstGeom>
          <a:solidFill>
            <a:srgbClr val="E04F40"/>
          </a:solidFill>
          <a:ln/>
        </p:spPr>
      </p:sp>
      <p:pic>
        <p:nvPicPr>
          <p:cNvPr id="12" name="Image 1" descr="icons/balance_white.png">    </p:cNvPr>
          <p:cNvPicPr>
            <a:picLocks noChangeAspect="1"/>
          </p:cNvPicPr>
          <p:nvPr/>
        </p:nvPicPr>
        <p:blipFill>
          <a:blip r:embed="rId2"/>
          <a:stretch>
            <a:fillRect/>
          </a:stretch>
        </p:blipFill>
        <p:spPr>
          <a:xfrm>
            <a:off x="921715" y="4990795"/>
            <a:ext cx="341986" cy="341986"/>
          </a:xfrm>
          <a:prstGeom prst="rect">
            <a:avLst/>
          </a:prstGeom>
        </p:spPr>
      </p:pic>
      <p:sp>
        <p:nvSpPr>
          <p:cNvPr id="13" name="Text 9"/>
          <p:cNvSpPr/>
          <p:nvPr/>
        </p:nvSpPr>
        <p:spPr>
          <a:xfrm>
            <a:off x="1508760" y="4846320"/>
            <a:ext cx="5212080" cy="274320"/>
          </a:xfrm>
          <a:prstGeom prst="rect">
            <a:avLst/>
          </a:prstGeom>
          <a:noFill/>
          <a:ln/>
        </p:spPr>
        <p:txBody>
          <a:bodyPr wrap="square" lIns="0" tIns="0" rIns="0" bIns="0" rtlCol="0" anchor="ctr"/>
          <a:lstStyle/>
          <a:p>
            <a:pPr indent="0" marL="0">
              <a:buNone/>
            </a:pPr>
            <a:r>
              <a:rPr lang="en-US" sz="950" b="1" spc="120" kern="0" dirty="0">
                <a:solidFill>
                  <a:srgbClr val="E04F40"/>
                </a:solidFill>
                <a:latin typeface="Courier New" pitchFamily="34" charset="0"/>
                <a:ea typeface="Courier New" pitchFamily="34" charset="-122"/>
                <a:cs typeface="Courier New" pitchFamily="34" charset="-120"/>
              </a:rPr>
              <a:t>THE DEBATE</a:t>
            </a:r>
            <a:endParaRPr lang="en-US" sz="950" dirty="0"/>
          </a:p>
        </p:txBody>
      </p:sp>
      <p:sp>
        <p:nvSpPr>
          <p:cNvPr id="14" name="Text 10"/>
          <p:cNvSpPr/>
          <p:nvPr/>
        </p:nvSpPr>
        <p:spPr>
          <a:xfrm>
            <a:off x="1508760" y="5111496"/>
            <a:ext cx="5212080" cy="457200"/>
          </a:xfrm>
          <a:prstGeom prst="rect">
            <a:avLst/>
          </a:prstGeom>
          <a:noFill/>
          <a:ln/>
        </p:spPr>
        <p:txBody>
          <a:bodyPr wrap="square" lIns="0" tIns="0" rIns="0" bIns="0" rtlCol="0" anchor="ctr"/>
          <a:lstStyle/>
          <a:p>
            <a:pPr indent="0" marL="0">
              <a:lnSpc>
                <a:spcPct val="110000"/>
              </a:lnSpc>
              <a:buNone/>
            </a:pPr>
            <a:r>
              <a:rPr lang="en-US" sz="1250" dirty="0">
                <a:solidFill>
                  <a:srgbClr val="1A1D29"/>
                </a:solidFill>
                <a:latin typeface="Calibri" pitchFamily="34" charset="0"/>
                <a:ea typeface="Calibri" pitchFamily="34" charset="-122"/>
                <a:cs typeface="Calibri" pitchFamily="34" charset="-120"/>
              </a:rPr>
              <a:t>Junior hiring is genuinely split: some cutting, some tripling down.</a:t>
            </a:r>
            <a:endParaRPr lang="en-US" sz="1250" dirty="0"/>
          </a:p>
        </p:txBody>
      </p:sp>
      <p:sp>
        <p:nvSpPr>
          <p:cNvPr id="15" name="Shape 11"/>
          <p:cNvSpPr/>
          <p:nvPr/>
        </p:nvSpPr>
        <p:spPr>
          <a:xfrm>
            <a:off x="640080" y="5797296"/>
            <a:ext cx="6126480" cy="868680"/>
          </a:xfrm>
          <a:prstGeom prst="roundRect">
            <a:avLst>
              <a:gd name="adj" fmla="val 8421"/>
            </a:avLst>
          </a:prstGeom>
          <a:solidFill>
            <a:srgbClr val="F5F6FA"/>
          </a:solidFill>
          <a:ln/>
          <a:effectLst>
            <a:outerShdw sx="100000" sy="100000" kx="0" ky="0" algn="bl" rotWithShape="0" blurRad="88900" dist="38100" dir="2700000">
              <a:srgbClr val="000000">
                <a:alpha val="7000"/>
              </a:srgbClr>
            </a:outerShdw>
          </a:effectLst>
        </p:spPr>
      </p:sp>
      <p:sp>
        <p:nvSpPr>
          <p:cNvPr id="16" name="Shape 12"/>
          <p:cNvSpPr/>
          <p:nvPr/>
        </p:nvSpPr>
        <p:spPr>
          <a:xfrm>
            <a:off x="841248" y="5980176"/>
            <a:ext cx="502920" cy="502920"/>
          </a:xfrm>
          <a:prstGeom prst="ellipse">
            <a:avLst/>
          </a:prstGeom>
          <a:solidFill>
            <a:srgbClr val="8B7CF6"/>
          </a:solidFill>
          <a:ln/>
        </p:spPr>
      </p:sp>
      <p:pic>
        <p:nvPicPr>
          <p:cNvPr id="17" name="Image 2" descr="icons/grad_white.png">    </p:cNvPr>
          <p:cNvPicPr>
            <a:picLocks noChangeAspect="1"/>
          </p:cNvPicPr>
          <p:nvPr/>
        </p:nvPicPr>
        <p:blipFill>
          <a:blip r:embed="rId3"/>
          <a:stretch>
            <a:fillRect/>
          </a:stretch>
        </p:blipFill>
        <p:spPr>
          <a:xfrm>
            <a:off x="921715" y="6060643"/>
            <a:ext cx="341986" cy="341986"/>
          </a:xfrm>
          <a:prstGeom prst="rect">
            <a:avLst/>
          </a:prstGeom>
        </p:spPr>
      </p:pic>
      <p:sp>
        <p:nvSpPr>
          <p:cNvPr id="18" name="Text 13"/>
          <p:cNvSpPr/>
          <p:nvPr/>
        </p:nvSpPr>
        <p:spPr>
          <a:xfrm>
            <a:off x="1508760" y="5916168"/>
            <a:ext cx="5212080" cy="274320"/>
          </a:xfrm>
          <a:prstGeom prst="rect">
            <a:avLst/>
          </a:prstGeom>
          <a:noFill/>
          <a:ln/>
        </p:spPr>
        <p:txBody>
          <a:bodyPr wrap="square" lIns="0" tIns="0" rIns="0" bIns="0" rtlCol="0" anchor="ctr"/>
          <a:lstStyle/>
          <a:p>
            <a:pPr indent="0" marL="0">
              <a:buNone/>
            </a:pPr>
            <a:r>
              <a:rPr lang="en-US" sz="950" b="1" spc="120" kern="0" dirty="0">
                <a:solidFill>
                  <a:srgbClr val="8B7CF6"/>
                </a:solidFill>
                <a:latin typeface="Courier New" pitchFamily="34" charset="0"/>
                <a:ea typeface="Courier New" pitchFamily="34" charset="-122"/>
                <a:cs typeface="Courier New" pitchFamily="34" charset="-120"/>
              </a:rPr>
              <a:t>THE TAKEAWAY</a:t>
            </a:r>
            <a:endParaRPr lang="en-US" sz="950" dirty="0"/>
          </a:p>
        </p:txBody>
      </p:sp>
      <p:sp>
        <p:nvSpPr>
          <p:cNvPr id="19" name="Text 14"/>
          <p:cNvSpPr/>
          <p:nvPr/>
        </p:nvSpPr>
        <p:spPr>
          <a:xfrm>
            <a:off x="1508760" y="6181344"/>
            <a:ext cx="5212080" cy="457200"/>
          </a:xfrm>
          <a:prstGeom prst="rect">
            <a:avLst/>
          </a:prstGeom>
          <a:noFill/>
          <a:ln/>
        </p:spPr>
        <p:txBody>
          <a:bodyPr wrap="square" lIns="0" tIns="0" rIns="0" bIns="0" rtlCol="0" anchor="ctr"/>
          <a:lstStyle/>
          <a:p>
            <a:pPr indent="0" marL="0">
              <a:lnSpc>
                <a:spcPct val="110000"/>
              </a:lnSpc>
              <a:buNone/>
            </a:pPr>
            <a:r>
              <a:rPr lang="en-US" sz="1250" dirty="0">
                <a:solidFill>
                  <a:srgbClr val="1A1D29"/>
                </a:solidFill>
                <a:latin typeface="Calibri" pitchFamily="34" charset="0"/>
                <a:ea typeface="Calibri" pitchFamily="34" charset="-122"/>
                <a:cs typeface="Calibri" pitchFamily="34" charset="-120"/>
              </a:rPr>
              <a:t>AI fluency + judgment is now a baseline career skill.</a:t>
            </a:r>
            <a:endParaRPr lang="en-US" sz="1250" dirty="0"/>
          </a:p>
        </p:txBody>
      </p:sp>
      <p:sp>
        <p:nvSpPr>
          <p:cNvPr id="20" name="Shape 15"/>
          <p:cNvSpPr/>
          <p:nvPr/>
        </p:nvSpPr>
        <p:spPr>
          <a:xfrm>
            <a:off x="7360920" y="914400"/>
            <a:ext cx="4160520" cy="5166360"/>
          </a:xfrm>
          <a:prstGeom prst="roundRect">
            <a:avLst>
              <a:gd name="adj" fmla="val 2198"/>
            </a:avLst>
          </a:prstGeom>
          <a:solidFill>
            <a:srgbClr val="12141C"/>
          </a:solidFill>
          <a:ln/>
          <a:effectLst>
            <a:outerShdw sx="100000" sy="100000" kx="0" ky="0" algn="bl" rotWithShape="0" blurRad="127000" dist="38100" dir="2700000">
              <a:srgbClr val="000000">
                <a:alpha val="18000"/>
              </a:srgbClr>
            </a:outerShdw>
          </a:effectLst>
        </p:spPr>
      </p:sp>
      <p:sp>
        <p:nvSpPr>
          <p:cNvPr id="21" name="Shape 16"/>
          <p:cNvSpPr/>
          <p:nvPr/>
        </p:nvSpPr>
        <p:spPr>
          <a:xfrm>
            <a:off x="7772400" y="1325880"/>
            <a:ext cx="640080" cy="640080"/>
          </a:xfrm>
          <a:prstGeom prst="ellipse">
            <a:avLst/>
          </a:prstGeom>
          <a:solidFill>
            <a:srgbClr val="7DF9C1"/>
          </a:solidFill>
          <a:ln/>
        </p:spPr>
      </p:sp>
      <p:pic>
        <p:nvPicPr>
          <p:cNvPr id="22" name="Image 3" descr="icons/bulb_white.png">    </p:cNvPr>
          <p:cNvPicPr>
            <a:picLocks noChangeAspect="1"/>
          </p:cNvPicPr>
          <p:nvPr/>
        </p:nvPicPr>
        <p:blipFill>
          <a:blip r:embed="rId4"/>
          <a:stretch>
            <a:fillRect/>
          </a:stretch>
        </p:blipFill>
        <p:spPr>
          <a:xfrm>
            <a:off x="7874813" y="1428293"/>
            <a:ext cx="435254" cy="435254"/>
          </a:xfrm>
          <a:prstGeom prst="rect">
            <a:avLst/>
          </a:prstGeom>
        </p:spPr>
      </p:pic>
      <p:sp>
        <p:nvSpPr>
          <p:cNvPr id="23" name="Text 17"/>
          <p:cNvSpPr/>
          <p:nvPr/>
        </p:nvSpPr>
        <p:spPr>
          <a:xfrm>
            <a:off x="7772400" y="2148840"/>
            <a:ext cx="333756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Thank you</a:t>
            </a:r>
            <a:endParaRPr lang="en-US" sz="3000" dirty="0"/>
          </a:p>
        </p:txBody>
      </p:sp>
      <p:sp>
        <p:nvSpPr>
          <p:cNvPr id="24" name="Text 18"/>
          <p:cNvSpPr/>
          <p:nvPr/>
        </p:nvSpPr>
        <p:spPr>
          <a:xfrm>
            <a:off x="7772400" y="2697480"/>
            <a:ext cx="3337560" cy="365760"/>
          </a:xfrm>
          <a:prstGeom prst="rect">
            <a:avLst/>
          </a:prstGeom>
          <a:noFill/>
          <a:ln/>
        </p:spPr>
        <p:txBody>
          <a:bodyPr wrap="square" lIns="0" tIns="0" rIns="0" bIns="0" rtlCol="0" anchor="ctr"/>
          <a:lstStyle/>
          <a:p>
            <a:pPr indent="0" marL="0">
              <a:buNone/>
            </a:pPr>
            <a:r>
              <a:rPr lang="en-US" sz="1350" i="1" dirty="0">
                <a:solidFill>
                  <a:srgbClr val="9298AC"/>
                </a:solidFill>
                <a:latin typeface="Calibri" pitchFamily="34" charset="0"/>
                <a:ea typeface="Calibri" pitchFamily="34" charset="-122"/>
                <a:cs typeface="Calibri" pitchFamily="34" charset="-120"/>
              </a:rPr>
              <a:t>Questions &amp; discussion welcome.</a:t>
            </a:r>
            <a:endParaRPr lang="en-US" sz="1350" dirty="0"/>
          </a:p>
        </p:txBody>
      </p:sp>
      <p:sp>
        <p:nvSpPr>
          <p:cNvPr id="25" name="Shape 19"/>
          <p:cNvSpPr/>
          <p:nvPr/>
        </p:nvSpPr>
        <p:spPr>
          <a:xfrm>
            <a:off x="7772400" y="3337560"/>
            <a:ext cx="64008" cy="64008"/>
          </a:xfrm>
          <a:prstGeom prst="ellipse">
            <a:avLst/>
          </a:prstGeom>
          <a:solidFill>
            <a:srgbClr val="323851"/>
          </a:solidFill>
          <a:ln/>
        </p:spPr>
      </p:sp>
      <p:sp>
        <p:nvSpPr>
          <p:cNvPr id="26" name="Shape 20"/>
          <p:cNvSpPr/>
          <p:nvPr/>
        </p:nvSpPr>
        <p:spPr>
          <a:xfrm>
            <a:off x="7927848" y="3337560"/>
            <a:ext cx="64008" cy="64008"/>
          </a:xfrm>
          <a:prstGeom prst="ellipse">
            <a:avLst/>
          </a:prstGeom>
          <a:solidFill>
            <a:srgbClr val="323851"/>
          </a:solidFill>
          <a:ln/>
        </p:spPr>
      </p:sp>
      <p:sp>
        <p:nvSpPr>
          <p:cNvPr id="27" name="Shape 21"/>
          <p:cNvSpPr/>
          <p:nvPr/>
        </p:nvSpPr>
        <p:spPr>
          <a:xfrm>
            <a:off x="8083296" y="3337560"/>
            <a:ext cx="64008" cy="64008"/>
          </a:xfrm>
          <a:prstGeom prst="ellipse">
            <a:avLst/>
          </a:prstGeom>
          <a:solidFill>
            <a:srgbClr val="323851"/>
          </a:solidFill>
          <a:ln/>
        </p:spPr>
      </p:sp>
      <p:sp>
        <p:nvSpPr>
          <p:cNvPr id="28" name="Text 22"/>
          <p:cNvSpPr/>
          <p:nvPr/>
        </p:nvSpPr>
        <p:spPr>
          <a:xfrm>
            <a:off x="7772400" y="3657600"/>
            <a:ext cx="3337560" cy="320040"/>
          </a:xfrm>
          <a:prstGeom prst="rect">
            <a:avLst/>
          </a:prstGeom>
          <a:noFill/>
          <a:ln/>
        </p:spPr>
        <p:txBody>
          <a:bodyPr wrap="square" lIns="0" tIns="0" rIns="0" bIns="0" rtlCol="0" anchor="ctr"/>
          <a:lstStyle/>
          <a:p>
            <a:pPr indent="0" marL="0">
              <a:buNone/>
            </a:pPr>
            <a:r>
              <a:rPr lang="en-US" sz="1400" b="1" dirty="0">
                <a:solidFill>
                  <a:srgbClr val="EDEFF7"/>
                </a:solidFill>
                <a:latin typeface="Calibri" pitchFamily="34" charset="0"/>
                <a:ea typeface="Calibri" pitchFamily="34" charset="-122"/>
                <a:cs typeface="Calibri" pitchFamily="34" charset="-120"/>
              </a:rPr>
              <a:t>Syed Mohammad Arif</a:t>
            </a:r>
            <a:endParaRPr lang="en-US" sz="1400" dirty="0"/>
          </a:p>
        </p:txBody>
      </p:sp>
      <p:sp>
        <p:nvSpPr>
          <p:cNvPr id="29" name="Text 23"/>
          <p:cNvSpPr/>
          <p:nvPr/>
        </p:nvSpPr>
        <p:spPr>
          <a:xfrm>
            <a:off x="7772400" y="3977640"/>
            <a:ext cx="3337560" cy="320040"/>
          </a:xfrm>
          <a:prstGeom prst="rect">
            <a:avLst/>
          </a:prstGeom>
          <a:noFill/>
          <a:ln/>
        </p:spPr>
        <p:txBody>
          <a:bodyPr wrap="square" lIns="0" tIns="0" rIns="0" bIns="0" rtlCol="0" anchor="ctr"/>
          <a:lstStyle/>
          <a:p>
            <a:pPr indent="0" marL="0">
              <a:buNone/>
            </a:pPr>
            <a:r>
              <a:rPr lang="en-US" sz="1400" b="1" dirty="0">
                <a:solidFill>
                  <a:srgbClr val="EDEFF7"/>
                </a:solidFill>
                <a:latin typeface="Calibri" pitchFamily="34" charset="0"/>
                <a:ea typeface="Calibri" pitchFamily="34" charset="-122"/>
                <a:cs typeface="Calibri" pitchFamily="34" charset="-120"/>
              </a:rPr>
              <a:t>Joshua Akabuogu</a:t>
            </a:r>
            <a:endParaRPr lang="en-US" sz="1400" dirty="0"/>
          </a:p>
        </p:txBody>
      </p:sp>
      <p:sp>
        <p:nvSpPr>
          <p:cNvPr id="30" name="Text 24"/>
          <p:cNvSpPr/>
          <p:nvPr/>
        </p:nvSpPr>
        <p:spPr>
          <a:xfrm>
            <a:off x="7772400" y="4434840"/>
            <a:ext cx="3337560" cy="274320"/>
          </a:xfrm>
          <a:prstGeom prst="rect">
            <a:avLst/>
          </a:prstGeom>
          <a:noFill/>
          <a:ln/>
        </p:spPr>
        <p:txBody>
          <a:bodyPr wrap="square" lIns="0" tIns="0" rIns="0" bIns="0" rtlCol="0" anchor="ctr"/>
          <a:lstStyle/>
          <a:p>
            <a:pPr indent="0" marL="0">
              <a:buNone/>
            </a:pPr>
            <a:r>
              <a:rPr lang="en-US" sz="1150" dirty="0">
                <a:solidFill>
                  <a:srgbClr val="9298AC"/>
                </a:solidFill>
                <a:latin typeface="Calibri" pitchFamily="34" charset="0"/>
                <a:ea typeface="Calibri" pitchFamily="34" charset="-122"/>
                <a:cs typeface="Calibri" pitchFamily="34" charset="-120"/>
              </a:rPr>
              <a:t>Seneca Polytechnic — CEP</a:t>
            </a:r>
            <a:endParaRPr lang="en-US" sz="1150" dirty="0"/>
          </a:p>
        </p:txBody>
      </p:sp>
      <p:sp>
        <p:nvSpPr>
          <p:cNvPr id="31" name="Text 25"/>
          <p:cNvSpPr/>
          <p:nvPr/>
        </p:nvSpPr>
        <p:spPr>
          <a:xfrm>
            <a:off x="11414455" y="6400800"/>
            <a:ext cx="548640" cy="274320"/>
          </a:xfrm>
          <a:prstGeom prst="rect">
            <a:avLst/>
          </a:prstGeom>
          <a:noFill/>
          <a:ln/>
        </p:spPr>
        <p:txBody>
          <a:bodyPr wrap="square" lIns="0" tIns="0" rIns="0" bIns="0" rtlCol="0" anchor="ctr"/>
          <a:lstStyle/>
          <a:p>
            <a:pPr algn="r" indent="0" marL="0">
              <a:buNone/>
            </a:pPr>
            <a:r>
              <a:rPr lang="en-US" sz="1000" dirty="0">
                <a:solidFill>
                  <a:srgbClr val="4A4F66"/>
                </a:solidFill>
                <a:latin typeface="Courier New" pitchFamily="34" charset="0"/>
                <a:ea typeface="Courier New" pitchFamily="34" charset="-122"/>
                <a:cs typeface="Courier New"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640080" y="502920"/>
            <a:ext cx="7315200" cy="365760"/>
          </a:xfrm>
          <a:prstGeom prst="rect">
            <a:avLst/>
          </a:prstGeom>
          <a:noFill/>
          <a:ln/>
        </p:spPr>
        <p:txBody>
          <a:bodyPr wrap="square" lIns="0" tIns="0" rIns="0" bIns="0" rtlCol="0" anchor="ctr"/>
          <a:lstStyle/>
          <a:p>
            <a:pPr indent="0" marL="0">
              <a:buNone/>
            </a:pPr>
            <a:r>
              <a:rPr lang="en-US" sz="1250" b="1" spc="300" kern="0" dirty="0">
                <a:solidFill>
                  <a:srgbClr val="7DF9C1"/>
                </a:solidFill>
                <a:latin typeface="Courier New" pitchFamily="34" charset="0"/>
                <a:ea typeface="Courier New" pitchFamily="34" charset="-122"/>
                <a:cs typeface="Courier New" pitchFamily="34" charset="-120"/>
              </a:rPr>
              <a:t>SOURCES</a:t>
            </a:r>
            <a:endParaRPr lang="en-US" sz="1250" dirty="0"/>
          </a:p>
        </p:txBody>
      </p:sp>
      <p:sp>
        <p:nvSpPr>
          <p:cNvPr id="3" name="Text 1"/>
          <p:cNvSpPr/>
          <p:nvPr/>
        </p:nvSpPr>
        <p:spPr>
          <a:xfrm>
            <a:off x="640080" y="914400"/>
            <a:ext cx="10789920" cy="64008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Where this data comes from.</a:t>
            </a:r>
            <a:endParaRPr lang="en-US" sz="2600" dirty="0"/>
          </a:p>
        </p:txBody>
      </p:sp>
      <p:sp>
        <p:nvSpPr>
          <p:cNvPr id="4" name="Shape 2"/>
          <p:cNvSpPr/>
          <p:nvPr/>
        </p:nvSpPr>
        <p:spPr>
          <a:xfrm>
            <a:off x="685800" y="2103120"/>
            <a:ext cx="82296" cy="82296"/>
          </a:xfrm>
          <a:prstGeom prst="ellipse">
            <a:avLst/>
          </a:prstGeom>
          <a:solidFill>
            <a:srgbClr val="7DF9C1"/>
          </a:solidFill>
          <a:ln/>
        </p:spPr>
      </p:sp>
      <p:sp>
        <p:nvSpPr>
          <p:cNvPr id="5" name="Text 3"/>
          <p:cNvSpPr/>
          <p:nvPr/>
        </p:nvSpPr>
        <p:spPr>
          <a:xfrm>
            <a:off x="960120" y="1965960"/>
            <a:ext cx="5029200" cy="685800"/>
          </a:xfrm>
          <a:prstGeom prst="rect">
            <a:avLst/>
          </a:prstGeom>
          <a:noFill/>
          <a:ln/>
        </p:spPr>
        <p:txBody>
          <a:bodyPr wrap="square" lIns="0" tIns="0" rIns="0" bIns="0" rtlCol="0" anchor="ctr"/>
          <a:lstStyle/>
          <a:p>
            <a:pPr indent="0" marL="0">
              <a:lnSpc>
                <a:spcPct val="120000"/>
              </a:lnSpc>
              <a:buNone/>
            </a:pPr>
            <a:r>
              <a:rPr lang="en-US" sz="1250" dirty="0">
                <a:solidFill>
                  <a:srgbClr val="C7CCDC"/>
                </a:solidFill>
                <a:latin typeface="Calibri" pitchFamily="34" charset="0"/>
                <a:ea typeface="Calibri" pitchFamily="34" charset="-122"/>
                <a:cs typeface="Calibri" pitchFamily="34" charset="-120"/>
              </a:rPr>
              <a:t>Stack Overflow Developer Survey 2025 &amp; Stack Overflow Blog, “AI vs Gen Z”</a:t>
            </a:r>
            <a:endParaRPr lang="en-US" sz="1250" dirty="0"/>
          </a:p>
        </p:txBody>
      </p:sp>
      <p:sp>
        <p:nvSpPr>
          <p:cNvPr id="6" name="Shape 4"/>
          <p:cNvSpPr/>
          <p:nvPr/>
        </p:nvSpPr>
        <p:spPr>
          <a:xfrm>
            <a:off x="685800" y="2944368"/>
            <a:ext cx="82296" cy="82296"/>
          </a:xfrm>
          <a:prstGeom prst="ellipse">
            <a:avLst/>
          </a:prstGeom>
          <a:solidFill>
            <a:srgbClr val="7DF9C1"/>
          </a:solidFill>
          <a:ln/>
        </p:spPr>
      </p:sp>
      <p:sp>
        <p:nvSpPr>
          <p:cNvPr id="7" name="Text 5"/>
          <p:cNvSpPr/>
          <p:nvPr/>
        </p:nvSpPr>
        <p:spPr>
          <a:xfrm>
            <a:off x="960120" y="2807208"/>
            <a:ext cx="5029200" cy="685800"/>
          </a:xfrm>
          <a:prstGeom prst="rect">
            <a:avLst/>
          </a:prstGeom>
          <a:noFill/>
          <a:ln/>
        </p:spPr>
        <p:txBody>
          <a:bodyPr wrap="square" lIns="0" tIns="0" rIns="0" bIns="0" rtlCol="0" anchor="ctr"/>
          <a:lstStyle/>
          <a:p>
            <a:pPr indent="0" marL="0">
              <a:lnSpc>
                <a:spcPct val="120000"/>
              </a:lnSpc>
              <a:buNone/>
            </a:pPr>
            <a:r>
              <a:rPr lang="en-US" sz="1250" dirty="0">
                <a:solidFill>
                  <a:srgbClr val="C7CCDC"/>
                </a:solidFill>
                <a:latin typeface="Calibri" pitchFamily="34" charset="0"/>
                <a:ea typeface="Calibri" pitchFamily="34" charset="-122"/>
                <a:cs typeface="Calibri" pitchFamily="34" charset="-120"/>
              </a:rPr>
              <a:t>Stanford Digital Economy Study (developer employment, ages 22–25)</a:t>
            </a:r>
            <a:endParaRPr lang="en-US" sz="1250" dirty="0"/>
          </a:p>
        </p:txBody>
      </p:sp>
      <p:sp>
        <p:nvSpPr>
          <p:cNvPr id="8" name="Shape 6"/>
          <p:cNvSpPr/>
          <p:nvPr/>
        </p:nvSpPr>
        <p:spPr>
          <a:xfrm>
            <a:off x="685800" y="3785616"/>
            <a:ext cx="82296" cy="82296"/>
          </a:xfrm>
          <a:prstGeom prst="ellipse">
            <a:avLst/>
          </a:prstGeom>
          <a:solidFill>
            <a:srgbClr val="7DF9C1"/>
          </a:solidFill>
          <a:ln/>
        </p:spPr>
      </p:sp>
      <p:sp>
        <p:nvSpPr>
          <p:cNvPr id="9" name="Text 7"/>
          <p:cNvSpPr/>
          <p:nvPr/>
        </p:nvSpPr>
        <p:spPr>
          <a:xfrm>
            <a:off x="960120" y="3648456"/>
            <a:ext cx="5029200" cy="685800"/>
          </a:xfrm>
          <a:prstGeom prst="rect">
            <a:avLst/>
          </a:prstGeom>
          <a:noFill/>
          <a:ln/>
        </p:spPr>
        <p:txBody>
          <a:bodyPr wrap="square" lIns="0" tIns="0" rIns="0" bIns="0" rtlCol="0" anchor="ctr"/>
          <a:lstStyle/>
          <a:p>
            <a:pPr indent="0" marL="0">
              <a:lnSpc>
                <a:spcPct val="120000"/>
              </a:lnSpc>
              <a:buNone/>
            </a:pPr>
            <a:r>
              <a:rPr lang="en-US" sz="1250" dirty="0">
                <a:solidFill>
                  <a:srgbClr val="C7CCDC"/>
                </a:solidFill>
                <a:latin typeface="Calibri" pitchFamily="34" charset="0"/>
                <a:ea typeface="Calibri" pitchFamily="34" charset="-122"/>
                <a:cs typeface="Calibri" pitchFamily="34" charset="-120"/>
              </a:rPr>
              <a:t>Microsoft FY earnings calls — Satya Nadella (Jul 2025 / Jan 2026)</a:t>
            </a:r>
            <a:endParaRPr lang="en-US" sz="1250" dirty="0"/>
          </a:p>
        </p:txBody>
      </p:sp>
      <p:sp>
        <p:nvSpPr>
          <p:cNvPr id="10" name="Shape 8"/>
          <p:cNvSpPr/>
          <p:nvPr/>
        </p:nvSpPr>
        <p:spPr>
          <a:xfrm>
            <a:off x="685800" y="4626864"/>
            <a:ext cx="82296" cy="82296"/>
          </a:xfrm>
          <a:prstGeom prst="ellipse">
            <a:avLst/>
          </a:prstGeom>
          <a:solidFill>
            <a:srgbClr val="7DF9C1"/>
          </a:solidFill>
          <a:ln/>
        </p:spPr>
      </p:sp>
      <p:sp>
        <p:nvSpPr>
          <p:cNvPr id="11" name="Text 9"/>
          <p:cNvSpPr/>
          <p:nvPr/>
        </p:nvSpPr>
        <p:spPr>
          <a:xfrm>
            <a:off x="960120" y="4489704"/>
            <a:ext cx="5029200" cy="685800"/>
          </a:xfrm>
          <a:prstGeom prst="rect">
            <a:avLst/>
          </a:prstGeom>
          <a:noFill/>
          <a:ln/>
        </p:spPr>
        <p:txBody>
          <a:bodyPr wrap="square" lIns="0" tIns="0" rIns="0" bIns="0" rtlCol="0" anchor="ctr"/>
          <a:lstStyle/>
          <a:p>
            <a:pPr indent="0" marL="0">
              <a:lnSpc>
                <a:spcPct val="120000"/>
              </a:lnSpc>
              <a:buNone/>
            </a:pPr>
            <a:r>
              <a:rPr lang="en-US" sz="1250" dirty="0">
                <a:solidFill>
                  <a:srgbClr val="C7CCDC"/>
                </a:solidFill>
                <a:latin typeface="Calibri" pitchFamily="34" charset="0"/>
                <a:ea typeface="Calibri" pitchFamily="34" charset="-122"/>
                <a:cs typeface="Calibri" pitchFamily="34" charset="-120"/>
              </a:rPr>
              <a:t>DORA 2024 State of DevOps Report</a:t>
            </a:r>
            <a:endParaRPr lang="en-US" sz="1250" dirty="0"/>
          </a:p>
        </p:txBody>
      </p:sp>
      <p:sp>
        <p:nvSpPr>
          <p:cNvPr id="12" name="Shape 10"/>
          <p:cNvSpPr/>
          <p:nvPr/>
        </p:nvSpPr>
        <p:spPr>
          <a:xfrm>
            <a:off x="685800" y="5468112"/>
            <a:ext cx="82296" cy="82296"/>
          </a:xfrm>
          <a:prstGeom prst="ellipse">
            <a:avLst/>
          </a:prstGeom>
          <a:solidFill>
            <a:srgbClr val="7DF9C1"/>
          </a:solidFill>
          <a:ln/>
        </p:spPr>
      </p:sp>
      <p:sp>
        <p:nvSpPr>
          <p:cNvPr id="13" name="Text 11"/>
          <p:cNvSpPr/>
          <p:nvPr/>
        </p:nvSpPr>
        <p:spPr>
          <a:xfrm>
            <a:off x="960120" y="5330952"/>
            <a:ext cx="5029200" cy="685800"/>
          </a:xfrm>
          <a:prstGeom prst="rect">
            <a:avLst/>
          </a:prstGeom>
          <a:noFill/>
          <a:ln/>
        </p:spPr>
        <p:txBody>
          <a:bodyPr wrap="square" lIns="0" tIns="0" rIns="0" bIns="0" rtlCol="0" anchor="ctr"/>
          <a:lstStyle/>
          <a:p>
            <a:pPr indent="0" marL="0">
              <a:lnSpc>
                <a:spcPct val="120000"/>
              </a:lnSpc>
              <a:buNone/>
            </a:pPr>
            <a:r>
              <a:rPr lang="en-US" sz="1250" dirty="0">
                <a:solidFill>
                  <a:srgbClr val="C7CCDC"/>
                </a:solidFill>
                <a:latin typeface="Calibri" pitchFamily="34" charset="0"/>
                <a:ea typeface="Calibri" pitchFamily="34" charset="-122"/>
                <a:cs typeface="Calibri" pitchFamily="34" charset="-120"/>
              </a:rPr>
              <a:t>GitClear code-churn analysis (211M lines, 2020–2024)</a:t>
            </a:r>
            <a:endParaRPr lang="en-US" sz="1250" dirty="0"/>
          </a:p>
        </p:txBody>
      </p:sp>
      <p:sp>
        <p:nvSpPr>
          <p:cNvPr id="14" name="Shape 12"/>
          <p:cNvSpPr/>
          <p:nvPr/>
        </p:nvSpPr>
        <p:spPr>
          <a:xfrm>
            <a:off x="6263640" y="2103120"/>
            <a:ext cx="82296" cy="82296"/>
          </a:xfrm>
          <a:prstGeom prst="ellipse">
            <a:avLst/>
          </a:prstGeom>
          <a:solidFill>
            <a:srgbClr val="7DF9C1"/>
          </a:solidFill>
          <a:ln/>
        </p:spPr>
      </p:sp>
      <p:sp>
        <p:nvSpPr>
          <p:cNvPr id="15" name="Text 13"/>
          <p:cNvSpPr/>
          <p:nvPr/>
        </p:nvSpPr>
        <p:spPr>
          <a:xfrm>
            <a:off x="6537960" y="1965960"/>
            <a:ext cx="5029200" cy="685800"/>
          </a:xfrm>
          <a:prstGeom prst="rect">
            <a:avLst/>
          </a:prstGeom>
          <a:noFill/>
          <a:ln/>
        </p:spPr>
        <p:txBody>
          <a:bodyPr wrap="square" lIns="0" tIns="0" rIns="0" bIns="0" rtlCol="0" anchor="ctr"/>
          <a:lstStyle/>
          <a:p>
            <a:pPr indent="0" marL="0">
              <a:lnSpc>
                <a:spcPct val="120000"/>
              </a:lnSpc>
              <a:buNone/>
            </a:pPr>
            <a:r>
              <a:rPr lang="en-US" sz="1250" dirty="0">
                <a:solidFill>
                  <a:srgbClr val="C7CCDC"/>
                </a:solidFill>
                <a:latin typeface="Calibri" pitchFamily="34" charset="0"/>
                <a:ea typeface="Calibri" pitchFamily="34" charset="-122"/>
                <a:cs typeface="Calibri" pitchFamily="34" charset="-120"/>
              </a:rPr>
              <a:t>The Register / TechRadar / Fortune — AWS CEO Matt Garman remarks</a:t>
            </a:r>
            <a:endParaRPr lang="en-US" sz="1250" dirty="0"/>
          </a:p>
        </p:txBody>
      </p:sp>
      <p:sp>
        <p:nvSpPr>
          <p:cNvPr id="16" name="Shape 14"/>
          <p:cNvSpPr/>
          <p:nvPr/>
        </p:nvSpPr>
        <p:spPr>
          <a:xfrm>
            <a:off x="6263640" y="2944368"/>
            <a:ext cx="82296" cy="82296"/>
          </a:xfrm>
          <a:prstGeom prst="ellipse">
            <a:avLst/>
          </a:prstGeom>
          <a:solidFill>
            <a:srgbClr val="7DF9C1"/>
          </a:solidFill>
          <a:ln/>
        </p:spPr>
      </p:sp>
      <p:sp>
        <p:nvSpPr>
          <p:cNvPr id="17" name="Text 15"/>
          <p:cNvSpPr/>
          <p:nvPr/>
        </p:nvSpPr>
        <p:spPr>
          <a:xfrm>
            <a:off x="6537960" y="2807208"/>
            <a:ext cx="5029200" cy="685800"/>
          </a:xfrm>
          <a:prstGeom prst="rect">
            <a:avLst/>
          </a:prstGeom>
          <a:noFill/>
          <a:ln/>
        </p:spPr>
        <p:txBody>
          <a:bodyPr wrap="square" lIns="0" tIns="0" rIns="0" bIns="0" rtlCol="0" anchor="ctr"/>
          <a:lstStyle/>
          <a:p>
            <a:pPr indent="0" marL="0">
              <a:lnSpc>
                <a:spcPct val="120000"/>
              </a:lnSpc>
              <a:buNone/>
            </a:pPr>
            <a:r>
              <a:rPr lang="en-US" sz="1250" dirty="0">
                <a:solidFill>
                  <a:srgbClr val="C7CCDC"/>
                </a:solidFill>
                <a:latin typeface="Calibri" pitchFamily="34" charset="0"/>
                <a:ea typeface="Calibri" pitchFamily="34" charset="-122"/>
                <a:cs typeface="Calibri" pitchFamily="34" charset="-120"/>
              </a:rPr>
              <a:t>Final Round AI — “Software Engineering Job Market 2026”</a:t>
            </a:r>
            <a:endParaRPr lang="en-US" sz="1250" dirty="0"/>
          </a:p>
        </p:txBody>
      </p:sp>
      <p:sp>
        <p:nvSpPr>
          <p:cNvPr id="18" name="Shape 16"/>
          <p:cNvSpPr/>
          <p:nvPr/>
        </p:nvSpPr>
        <p:spPr>
          <a:xfrm>
            <a:off x="6263640" y="3785616"/>
            <a:ext cx="82296" cy="82296"/>
          </a:xfrm>
          <a:prstGeom prst="ellipse">
            <a:avLst/>
          </a:prstGeom>
          <a:solidFill>
            <a:srgbClr val="7DF9C1"/>
          </a:solidFill>
          <a:ln/>
        </p:spPr>
      </p:sp>
      <p:sp>
        <p:nvSpPr>
          <p:cNvPr id="19" name="Text 17"/>
          <p:cNvSpPr/>
          <p:nvPr/>
        </p:nvSpPr>
        <p:spPr>
          <a:xfrm>
            <a:off x="6537960" y="3648456"/>
            <a:ext cx="5029200" cy="685800"/>
          </a:xfrm>
          <a:prstGeom prst="rect">
            <a:avLst/>
          </a:prstGeom>
          <a:noFill/>
          <a:ln/>
        </p:spPr>
        <p:txBody>
          <a:bodyPr wrap="square" lIns="0" tIns="0" rIns="0" bIns="0" rtlCol="0" anchor="ctr"/>
          <a:lstStyle/>
          <a:p>
            <a:pPr indent="0" marL="0">
              <a:lnSpc>
                <a:spcPct val="120000"/>
              </a:lnSpc>
              <a:buNone/>
            </a:pPr>
            <a:r>
              <a:rPr lang="en-US" sz="1250" dirty="0">
                <a:solidFill>
                  <a:srgbClr val="C7CCDC"/>
                </a:solidFill>
                <a:latin typeface="Calibri" pitchFamily="34" charset="0"/>
                <a:ea typeface="Calibri" pitchFamily="34" charset="-122"/>
                <a:cs typeface="Calibri" pitchFamily="34" charset="-120"/>
              </a:rPr>
              <a:t>SoftwareSeni — junior developer employment data analysis</a:t>
            </a:r>
            <a:endParaRPr lang="en-US" sz="1250" dirty="0"/>
          </a:p>
        </p:txBody>
      </p:sp>
      <p:sp>
        <p:nvSpPr>
          <p:cNvPr id="20" name="Shape 18"/>
          <p:cNvSpPr/>
          <p:nvPr/>
        </p:nvSpPr>
        <p:spPr>
          <a:xfrm>
            <a:off x="6263640" y="4626864"/>
            <a:ext cx="82296" cy="82296"/>
          </a:xfrm>
          <a:prstGeom prst="ellipse">
            <a:avLst/>
          </a:prstGeom>
          <a:solidFill>
            <a:srgbClr val="7DF9C1"/>
          </a:solidFill>
          <a:ln/>
        </p:spPr>
      </p:sp>
      <p:sp>
        <p:nvSpPr>
          <p:cNvPr id="21" name="Text 19"/>
          <p:cNvSpPr/>
          <p:nvPr/>
        </p:nvSpPr>
        <p:spPr>
          <a:xfrm>
            <a:off x="6537960" y="4489704"/>
            <a:ext cx="5029200" cy="685800"/>
          </a:xfrm>
          <a:prstGeom prst="rect">
            <a:avLst/>
          </a:prstGeom>
          <a:noFill/>
          <a:ln/>
        </p:spPr>
        <p:txBody>
          <a:bodyPr wrap="square" lIns="0" tIns="0" rIns="0" bIns="0" rtlCol="0" anchor="ctr"/>
          <a:lstStyle/>
          <a:p>
            <a:pPr indent="0" marL="0">
              <a:lnSpc>
                <a:spcPct val="120000"/>
              </a:lnSpc>
              <a:buNone/>
            </a:pPr>
            <a:r>
              <a:rPr lang="en-US" sz="1250" dirty="0">
                <a:solidFill>
                  <a:srgbClr val="C7CCDC"/>
                </a:solidFill>
                <a:latin typeface="Calibri" pitchFamily="34" charset="0"/>
                <a:ea typeface="Calibri" pitchFamily="34" charset="-122"/>
                <a:cs typeface="Calibri" pitchFamily="34" charset="-120"/>
              </a:rPr>
              <a:t>Reports on IBM’s 2026 US entry-level hiring expansion</a:t>
            </a:r>
            <a:endParaRPr lang="en-US" sz="1250" dirty="0"/>
          </a:p>
        </p:txBody>
      </p:sp>
      <p:sp>
        <p:nvSpPr>
          <p:cNvPr id="22" name="Shape 20"/>
          <p:cNvSpPr/>
          <p:nvPr/>
        </p:nvSpPr>
        <p:spPr>
          <a:xfrm>
            <a:off x="6263640" y="5468112"/>
            <a:ext cx="82296" cy="82296"/>
          </a:xfrm>
          <a:prstGeom prst="ellipse">
            <a:avLst/>
          </a:prstGeom>
          <a:solidFill>
            <a:srgbClr val="7DF9C1"/>
          </a:solidFill>
          <a:ln/>
        </p:spPr>
      </p:sp>
      <p:sp>
        <p:nvSpPr>
          <p:cNvPr id="23" name="Text 21"/>
          <p:cNvSpPr/>
          <p:nvPr/>
        </p:nvSpPr>
        <p:spPr>
          <a:xfrm>
            <a:off x="6537960" y="5330952"/>
            <a:ext cx="5029200" cy="685800"/>
          </a:xfrm>
          <a:prstGeom prst="rect">
            <a:avLst/>
          </a:prstGeom>
          <a:noFill/>
          <a:ln/>
        </p:spPr>
        <p:txBody>
          <a:bodyPr wrap="square" lIns="0" tIns="0" rIns="0" bIns="0" rtlCol="0" anchor="ctr"/>
          <a:lstStyle/>
          <a:p>
            <a:pPr indent="0" marL="0">
              <a:lnSpc>
                <a:spcPct val="120000"/>
              </a:lnSpc>
              <a:buNone/>
            </a:pPr>
            <a:r>
              <a:rPr lang="en-US" sz="1250" dirty="0">
                <a:solidFill>
                  <a:srgbClr val="C7CCDC"/>
                </a:solidFill>
                <a:latin typeface="Calibri" pitchFamily="34" charset="0"/>
                <a:ea typeface="Calibri" pitchFamily="34" charset="-122"/>
                <a:cs typeface="Calibri" pitchFamily="34" charset="-120"/>
              </a:rPr>
              <a:t>Bloomberg (via industry compilations) — Cursor ARR figures</a:t>
            </a:r>
            <a:endParaRPr lang="en-US" sz="1250" dirty="0"/>
          </a:p>
        </p:txBody>
      </p:sp>
      <p:sp>
        <p:nvSpPr>
          <p:cNvPr id="24" name="Text 22"/>
          <p:cNvSpPr/>
          <p:nvPr/>
        </p:nvSpPr>
        <p:spPr>
          <a:xfrm>
            <a:off x="11414455" y="6400800"/>
            <a:ext cx="548640" cy="274320"/>
          </a:xfrm>
          <a:prstGeom prst="rect">
            <a:avLst/>
          </a:prstGeom>
          <a:noFill/>
          <a:ln/>
        </p:spPr>
        <p:txBody>
          <a:bodyPr wrap="square" lIns="0" tIns="0" rIns="0" bIns="0" rtlCol="0" anchor="ctr"/>
          <a:lstStyle/>
          <a:p>
            <a:pPr algn="r" indent="0" marL="0">
              <a:buNone/>
            </a:pPr>
            <a:r>
              <a:rPr lang="en-US" sz="1000" dirty="0">
                <a:solidFill>
                  <a:srgbClr val="9298AC"/>
                </a:solidFill>
                <a:latin typeface="Courier New" pitchFamily="34" charset="0"/>
                <a:ea typeface="Courier New" pitchFamily="34" charset="-122"/>
                <a:cs typeface="Courier New" pitchFamily="34" charset="-120"/>
              </a:rPr>
              <a:t>11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Coding Assistants and the Junior Developer Job Market</dc:title>
  <dc:subject>PptxGenJS Presentation</dc:subject>
  <dc:creator>Syed Mohammad Arif &amp; Joshua Akabuogu</dc:creator>
  <cp:lastModifiedBy>Syed Mohammad Arif &amp; Joshua Akabuogu</cp:lastModifiedBy>
  <cp:revision>1</cp:revision>
  <dcterms:created xsi:type="dcterms:W3CDTF">2026-06-19T19:29:03Z</dcterms:created>
  <dcterms:modified xsi:type="dcterms:W3CDTF">2026-06-19T19:29:03Z</dcterms:modified>
</cp:coreProperties>
</file>